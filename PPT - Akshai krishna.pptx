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1" r:id="rId10"/>
    <p:sldId id="265" r:id="rId11"/>
    <p:sldId id="266" r:id="rId12"/>
    <p:sldId id="272" r:id="rId13"/>
    <p:sldId id="268" r:id="rId14"/>
    <p:sldId id="269" r:id="rId15"/>
    <p:sldId id="270" r:id="rId16"/>
  </p:sldIdLst>
  <p:sldSz cx="18288000" cy="10287000"/>
  <p:notesSz cx="6858000" cy="9144000"/>
  <p:embeddedFontLst>
    <p:embeddedFont>
      <p:font typeface="Clear Sans" panose="020B0604020202020204" charset="0"/>
      <p:regular r:id="rId18"/>
    </p:embeddedFont>
    <p:embeddedFont>
      <p:font typeface="Clear Sans Bold" panose="020B0604020202020204" charset="0"/>
      <p:regular r:id="rId19"/>
    </p:embeddedFont>
    <p:embeddedFont>
      <p:font typeface="Clear Sans Medium"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18"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19"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2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21"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23"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245043737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63"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64"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65" name="Date Placeholder 3"/>
          <p:cNvSpPr>
            <a:spLocks noGrp="1"/>
          </p:cNvSpPr>
          <p:nvPr>
            <p:ph type="dt" sz="half" idx="10"/>
          </p:nvPr>
        </p:nvSpPr>
        <p:spPr/>
        <p:txBody>
          <a:bodyPr/>
          <a:lstStyle/>
          <a:p>
            <a:fld id="{1D8BD707-D9CF-40AE-B4C6-C98DA3205C09}" type="datetimeFigureOut">
              <a:rPr lang="en-US" smtClean="0"/>
              <a:t>1/18/2026</a:t>
            </a:fld>
            <a:endParaRPr lang="en-US"/>
          </a:p>
        </p:txBody>
      </p:sp>
      <p:sp>
        <p:nvSpPr>
          <p:cNvPr id="1048666" name="Footer Placeholder 4"/>
          <p:cNvSpPr>
            <a:spLocks noGrp="1"/>
          </p:cNvSpPr>
          <p:nvPr>
            <p:ph type="ftr" sz="quarter" idx="11"/>
          </p:nvPr>
        </p:nvSpPr>
        <p:spPr/>
        <p:txBody>
          <a:bodyPr/>
          <a:lstStyle/>
          <a:p>
            <a:endParaRPr lang="en-US"/>
          </a:p>
        </p:txBody>
      </p:sp>
      <p:sp>
        <p:nvSpPr>
          <p:cNvPr id="104866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77" name="Title 1"/>
          <p:cNvSpPr>
            <a:spLocks noGrp="1"/>
          </p:cNvSpPr>
          <p:nvPr>
            <p:ph type="title"/>
          </p:nvPr>
        </p:nvSpPr>
        <p:spPr/>
        <p:txBody>
          <a:bodyPr/>
          <a:lstStyle/>
          <a:p>
            <a:r>
              <a:rPr lang="en-US"/>
              <a:t>Click to edit Master title style</a:t>
            </a:r>
          </a:p>
        </p:txBody>
      </p:sp>
      <p:sp>
        <p:nvSpPr>
          <p:cNvPr id="1048678"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9" name="Date Placeholder 3"/>
          <p:cNvSpPr>
            <a:spLocks noGrp="1"/>
          </p:cNvSpPr>
          <p:nvPr>
            <p:ph type="dt" sz="half" idx="10"/>
          </p:nvPr>
        </p:nvSpPr>
        <p:spPr/>
        <p:txBody>
          <a:bodyPr/>
          <a:lstStyle/>
          <a:p>
            <a:fld id="{1D8BD707-D9CF-40AE-B4C6-C98DA3205C09}" type="datetimeFigureOut">
              <a:rPr lang="en-US" smtClean="0"/>
              <a:t>1/18/2026</a:t>
            </a:fld>
            <a:endParaRPr lang="en-US"/>
          </a:p>
        </p:txBody>
      </p:sp>
      <p:sp>
        <p:nvSpPr>
          <p:cNvPr id="1048680" name="Footer Placeholder 4"/>
          <p:cNvSpPr>
            <a:spLocks noGrp="1"/>
          </p:cNvSpPr>
          <p:nvPr>
            <p:ph type="ftr" sz="quarter" idx="11"/>
          </p:nvPr>
        </p:nvSpPr>
        <p:spPr/>
        <p:txBody>
          <a:bodyPr/>
          <a:lstStyle/>
          <a:p>
            <a:endParaRPr lang="en-US"/>
          </a:p>
        </p:txBody>
      </p:sp>
      <p:sp>
        <p:nvSpPr>
          <p:cNvPr id="1048681"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3"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94"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5" name="Date Placeholder 3"/>
          <p:cNvSpPr>
            <a:spLocks noGrp="1"/>
          </p:cNvSpPr>
          <p:nvPr>
            <p:ph type="dt" sz="half" idx="10"/>
          </p:nvPr>
        </p:nvSpPr>
        <p:spPr/>
        <p:txBody>
          <a:bodyPr/>
          <a:lstStyle/>
          <a:p>
            <a:fld id="{1D8BD707-D9CF-40AE-B4C6-C98DA3205C09}" type="datetimeFigureOut">
              <a:rPr lang="en-US" smtClean="0"/>
              <a:t>1/18/2026</a:t>
            </a:fld>
            <a:endParaRPr lang="en-US"/>
          </a:p>
        </p:txBody>
      </p:sp>
      <p:sp>
        <p:nvSpPr>
          <p:cNvPr id="1048696" name="Footer Placeholder 4"/>
          <p:cNvSpPr>
            <a:spLocks noGrp="1"/>
          </p:cNvSpPr>
          <p:nvPr>
            <p:ph type="ftr" sz="quarter" idx="11"/>
          </p:nvPr>
        </p:nvSpPr>
        <p:spPr/>
        <p:txBody>
          <a:bodyPr/>
          <a:lstStyle/>
          <a:p>
            <a:endParaRPr lang="en-US"/>
          </a:p>
        </p:txBody>
      </p:sp>
      <p:sp>
        <p:nvSpPr>
          <p:cNvPr id="104869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98" name="Title 1"/>
          <p:cNvSpPr>
            <a:spLocks noGrp="1"/>
          </p:cNvSpPr>
          <p:nvPr>
            <p:ph type="title"/>
          </p:nvPr>
        </p:nvSpPr>
        <p:spPr/>
        <p:txBody>
          <a:bodyPr/>
          <a:lstStyle/>
          <a:p>
            <a:r>
              <a:rPr lang="en-US"/>
              <a:t>Click to edit Master title style</a:t>
            </a:r>
          </a:p>
        </p:txBody>
      </p:sp>
      <p:sp>
        <p:nvSpPr>
          <p:cNvPr id="104869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1" name="Date Placeholder 4"/>
          <p:cNvSpPr>
            <a:spLocks noGrp="1"/>
          </p:cNvSpPr>
          <p:nvPr>
            <p:ph type="dt" sz="half" idx="10"/>
          </p:nvPr>
        </p:nvSpPr>
        <p:spPr/>
        <p:txBody>
          <a:bodyPr/>
          <a:lstStyle/>
          <a:p>
            <a:fld id="{1D8BD707-D9CF-40AE-B4C6-C98DA3205C09}" type="datetimeFigureOut">
              <a:rPr lang="en-US" smtClean="0"/>
              <a:t>1/18/2026</a:t>
            </a:fld>
            <a:endParaRPr lang="en-US"/>
          </a:p>
        </p:txBody>
      </p:sp>
      <p:sp>
        <p:nvSpPr>
          <p:cNvPr id="1048702" name="Footer Placeholder 5"/>
          <p:cNvSpPr>
            <a:spLocks noGrp="1"/>
          </p:cNvSpPr>
          <p:nvPr>
            <p:ph type="ftr" sz="quarter" idx="11"/>
          </p:nvPr>
        </p:nvSpPr>
        <p:spPr/>
        <p:txBody>
          <a:bodyPr/>
          <a:lstStyle/>
          <a:p>
            <a:endParaRPr lang="en-US"/>
          </a:p>
        </p:txBody>
      </p:sp>
      <p:sp>
        <p:nvSpPr>
          <p:cNvPr id="104870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04" name="Title 1"/>
          <p:cNvSpPr>
            <a:spLocks noGrp="1"/>
          </p:cNvSpPr>
          <p:nvPr>
            <p:ph type="title"/>
          </p:nvPr>
        </p:nvSpPr>
        <p:spPr/>
        <p:txBody>
          <a:bodyPr/>
          <a:lstStyle/>
          <a:p>
            <a:r>
              <a:rPr lang="en-US"/>
              <a:t>Click to edit Master title style</a:t>
            </a:r>
          </a:p>
        </p:txBody>
      </p:sp>
      <p:sp>
        <p:nvSpPr>
          <p:cNvPr id="1048705"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7"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9" name="Date Placeholder 6"/>
          <p:cNvSpPr>
            <a:spLocks noGrp="1"/>
          </p:cNvSpPr>
          <p:nvPr>
            <p:ph type="dt" sz="half" idx="10"/>
          </p:nvPr>
        </p:nvSpPr>
        <p:spPr/>
        <p:txBody>
          <a:bodyPr/>
          <a:lstStyle/>
          <a:p>
            <a:fld id="{1D8BD707-D9CF-40AE-B4C6-C98DA3205C09}" type="datetimeFigureOut">
              <a:rPr lang="en-US" smtClean="0"/>
              <a:t>1/18/2026</a:t>
            </a:fld>
            <a:endParaRPr lang="en-US"/>
          </a:p>
        </p:txBody>
      </p:sp>
      <p:sp>
        <p:nvSpPr>
          <p:cNvPr id="1048710" name="Footer Placeholder 7"/>
          <p:cNvSpPr>
            <a:spLocks noGrp="1"/>
          </p:cNvSpPr>
          <p:nvPr>
            <p:ph type="ftr" sz="quarter" idx="11"/>
          </p:nvPr>
        </p:nvSpPr>
        <p:spPr/>
        <p:txBody>
          <a:bodyPr/>
          <a:lstStyle/>
          <a:p>
            <a:endParaRPr lang="en-US"/>
          </a:p>
        </p:txBody>
      </p:sp>
      <p:sp>
        <p:nvSpPr>
          <p:cNvPr id="1048711"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68" name="Title 1"/>
          <p:cNvSpPr>
            <a:spLocks noGrp="1"/>
          </p:cNvSpPr>
          <p:nvPr>
            <p:ph type="title"/>
          </p:nvPr>
        </p:nvSpPr>
        <p:spPr/>
        <p:txBody>
          <a:bodyPr/>
          <a:lstStyle/>
          <a:p>
            <a:r>
              <a:rPr lang="en-US"/>
              <a:t>Click to edit Master title style</a:t>
            </a:r>
          </a:p>
        </p:txBody>
      </p:sp>
      <p:sp>
        <p:nvSpPr>
          <p:cNvPr id="1048669" name="Date Placeholder 2"/>
          <p:cNvSpPr>
            <a:spLocks noGrp="1"/>
          </p:cNvSpPr>
          <p:nvPr>
            <p:ph type="dt" sz="half" idx="10"/>
          </p:nvPr>
        </p:nvSpPr>
        <p:spPr/>
        <p:txBody>
          <a:bodyPr/>
          <a:lstStyle/>
          <a:p>
            <a:fld id="{1D8BD707-D9CF-40AE-B4C6-C98DA3205C09}" type="datetimeFigureOut">
              <a:rPr lang="en-US" smtClean="0"/>
              <a:t>1/18/2026</a:t>
            </a:fld>
            <a:endParaRPr lang="en-US"/>
          </a:p>
        </p:txBody>
      </p:sp>
      <p:sp>
        <p:nvSpPr>
          <p:cNvPr id="1048670" name="Footer Placeholder 3"/>
          <p:cNvSpPr>
            <a:spLocks noGrp="1"/>
          </p:cNvSpPr>
          <p:nvPr>
            <p:ph type="ftr" sz="quarter" idx="11"/>
          </p:nvPr>
        </p:nvSpPr>
        <p:spPr/>
        <p:txBody>
          <a:bodyPr/>
          <a:lstStyle/>
          <a:p>
            <a:endParaRPr lang="en-US"/>
          </a:p>
        </p:txBody>
      </p:sp>
      <p:sp>
        <p:nvSpPr>
          <p:cNvPr id="1048671"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D8BD707-D9CF-40AE-B4C6-C98DA3205C09}" type="datetimeFigureOut">
              <a:rPr lang="en-US" smtClean="0"/>
              <a:t>1/18/2026</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1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1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5" name="Date Placeholder 4"/>
          <p:cNvSpPr>
            <a:spLocks noGrp="1"/>
          </p:cNvSpPr>
          <p:nvPr>
            <p:ph type="dt" sz="half" idx="10"/>
          </p:nvPr>
        </p:nvSpPr>
        <p:spPr/>
        <p:txBody>
          <a:bodyPr/>
          <a:lstStyle/>
          <a:p>
            <a:fld id="{1D8BD707-D9CF-40AE-B4C6-C98DA3205C09}" type="datetimeFigureOut">
              <a:rPr lang="en-US" smtClean="0"/>
              <a:t>1/18/2026</a:t>
            </a:fld>
            <a:endParaRPr lang="en-US"/>
          </a:p>
        </p:txBody>
      </p:sp>
      <p:sp>
        <p:nvSpPr>
          <p:cNvPr id="1048716" name="Footer Placeholder 5"/>
          <p:cNvSpPr>
            <a:spLocks noGrp="1"/>
          </p:cNvSpPr>
          <p:nvPr>
            <p:ph type="ftr" sz="quarter" idx="11"/>
          </p:nvPr>
        </p:nvSpPr>
        <p:spPr/>
        <p:txBody>
          <a:bodyPr/>
          <a:lstStyle/>
          <a:p>
            <a:endParaRPr lang="en-US"/>
          </a:p>
        </p:txBody>
      </p:sp>
      <p:sp>
        <p:nvSpPr>
          <p:cNvPr id="104871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8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8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5" name="Date Placeholder 4"/>
          <p:cNvSpPr>
            <a:spLocks noGrp="1"/>
          </p:cNvSpPr>
          <p:nvPr>
            <p:ph type="dt" sz="half" idx="10"/>
          </p:nvPr>
        </p:nvSpPr>
        <p:spPr/>
        <p:txBody>
          <a:bodyPr/>
          <a:lstStyle/>
          <a:p>
            <a:fld id="{1D8BD707-D9CF-40AE-B4C6-C98DA3205C09}" type="datetimeFigureOut">
              <a:rPr lang="en-US" smtClean="0"/>
              <a:t>1/18/2026</a:t>
            </a:fld>
            <a:endParaRPr lang="en-US"/>
          </a:p>
        </p:txBody>
      </p:sp>
      <p:sp>
        <p:nvSpPr>
          <p:cNvPr id="1048686" name="Footer Placeholder 5"/>
          <p:cNvSpPr>
            <a:spLocks noGrp="1"/>
          </p:cNvSpPr>
          <p:nvPr>
            <p:ph type="ftr" sz="quarter" idx="11"/>
          </p:nvPr>
        </p:nvSpPr>
        <p:spPr/>
        <p:txBody>
          <a:bodyPr/>
          <a:lstStyle/>
          <a:p>
            <a:endParaRPr lang="en-US"/>
          </a:p>
        </p:txBody>
      </p:sp>
      <p:sp>
        <p:nvSpPr>
          <p:cNvPr id="104868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8" name="Title 1"/>
          <p:cNvSpPr>
            <a:spLocks noGrp="1"/>
          </p:cNvSpPr>
          <p:nvPr>
            <p:ph type="title"/>
          </p:nvPr>
        </p:nvSpPr>
        <p:spPr/>
        <p:txBody>
          <a:bodyPr/>
          <a:lstStyle/>
          <a:p>
            <a:r>
              <a:rPr lang="en-US"/>
              <a:t>Click to edit Master title style</a:t>
            </a:r>
          </a:p>
        </p:txBody>
      </p:sp>
      <p:sp>
        <p:nvSpPr>
          <p:cNvPr id="104868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0" name="Date Placeholder 3"/>
          <p:cNvSpPr>
            <a:spLocks noGrp="1"/>
          </p:cNvSpPr>
          <p:nvPr>
            <p:ph type="dt" sz="half" idx="10"/>
          </p:nvPr>
        </p:nvSpPr>
        <p:spPr/>
        <p:txBody>
          <a:bodyPr/>
          <a:lstStyle/>
          <a:p>
            <a:fld id="{1D8BD707-D9CF-40AE-B4C6-C98DA3205C09}" type="datetimeFigureOut">
              <a:rPr lang="en-US" smtClean="0"/>
              <a:t>1/18/2026</a:t>
            </a:fld>
            <a:endParaRPr lang="en-US"/>
          </a:p>
        </p:txBody>
      </p:sp>
      <p:sp>
        <p:nvSpPr>
          <p:cNvPr id="1048691" name="Footer Placeholder 4"/>
          <p:cNvSpPr>
            <a:spLocks noGrp="1"/>
          </p:cNvSpPr>
          <p:nvPr>
            <p:ph type="ftr" sz="quarter" idx="11"/>
          </p:nvPr>
        </p:nvSpPr>
        <p:spPr/>
        <p:txBody>
          <a:bodyPr/>
          <a:lstStyle/>
          <a:p>
            <a:endParaRPr lang="en-US"/>
          </a:p>
        </p:txBody>
      </p:sp>
      <p:sp>
        <p:nvSpPr>
          <p:cNvPr id="1048692"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7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4" name="Date Placeholder 3"/>
          <p:cNvSpPr>
            <a:spLocks noGrp="1"/>
          </p:cNvSpPr>
          <p:nvPr>
            <p:ph type="dt" sz="half" idx="10"/>
          </p:nvPr>
        </p:nvSpPr>
        <p:spPr/>
        <p:txBody>
          <a:bodyPr/>
          <a:lstStyle/>
          <a:p>
            <a:fld id="{1D8BD707-D9CF-40AE-B4C6-C98DA3205C09}" type="datetimeFigureOut">
              <a:rPr lang="en-US" smtClean="0"/>
              <a:t>1/18/2026</a:t>
            </a:fld>
            <a:endParaRPr lang="en-US"/>
          </a:p>
        </p:txBody>
      </p:sp>
      <p:sp>
        <p:nvSpPr>
          <p:cNvPr id="1048675" name="Footer Placeholder 4"/>
          <p:cNvSpPr>
            <a:spLocks noGrp="1"/>
          </p:cNvSpPr>
          <p:nvPr>
            <p:ph type="ftr" sz="quarter" idx="11"/>
          </p:nvPr>
        </p:nvSpPr>
        <p:spPr/>
        <p:txBody>
          <a:bodyPr/>
          <a:lstStyle/>
          <a:p>
            <a:endParaRPr lang="en-US"/>
          </a:p>
        </p:txBody>
      </p:sp>
      <p:sp>
        <p:nvSpPr>
          <p:cNvPr id="104867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1/18/2026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5" name="Group 2"/>
          <p:cNvGrpSpPr/>
          <p:nvPr/>
        </p:nvGrpSpPr>
        <p:grpSpPr>
          <a:xfrm>
            <a:off x="7052115" y="1519554"/>
            <a:ext cx="10481242" cy="6312952"/>
            <a:chOff x="0" y="-47625"/>
            <a:chExt cx="13974990" cy="8417270"/>
          </a:xfrm>
        </p:grpSpPr>
        <p:sp>
          <p:nvSpPr>
            <p:cNvPr id="1048584" name="TextBox 3"/>
            <p:cNvSpPr txBox="1"/>
            <p:nvPr/>
          </p:nvSpPr>
          <p:spPr>
            <a:xfrm>
              <a:off x="0" y="1368999"/>
              <a:ext cx="13974990" cy="4103688"/>
            </a:xfrm>
            <a:prstGeom prst="rect">
              <a:avLst/>
            </a:prstGeom>
          </p:spPr>
          <p:txBody>
            <a:bodyPr lIns="0" tIns="0" rIns="0" bIns="0" rtlCol="0" anchor="t">
              <a:spAutoFit/>
            </a:bodyPr>
            <a:lstStyle/>
            <a:p>
              <a:pPr>
                <a:lnSpc>
                  <a:spcPts val="8000"/>
                </a:lnSpc>
              </a:pPr>
              <a:r>
                <a:rPr lang="en-US" sz="8000" dirty="0">
                  <a:solidFill>
                    <a:srgbClr val="F7B4A7"/>
                  </a:solidFill>
                  <a:latin typeface="Clear Sans Bold"/>
                </a:rPr>
                <a:t>SAFE TRAVERSE: COLLISION FREE INTELLIGENT CAR</a:t>
              </a:r>
            </a:p>
          </p:txBody>
        </p:sp>
        <p:sp>
          <p:nvSpPr>
            <p:cNvPr id="1048585" name="TextBox 4"/>
            <p:cNvSpPr txBox="1"/>
            <p:nvPr/>
          </p:nvSpPr>
          <p:spPr>
            <a:xfrm>
              <a:off x="0" y="-47625"/>
              <a:ext cx="13974990" cy="568791"/>
            </a:xfrm>
            <a:prstGeom prst="rect">
              <a:avLst/>
            </a:prstGeom>
          </p:spPr>
          <p:txBody>
            <a:bodyPr lIns="0" tIns="0" rIns="0" bIns="0" rtlCol="0" anchor="t">
              <a:spAutoFit/>
            </a:bodyPr>
            <a:lstStyle/>
            <a:p>
              <a:pPr>
                <a:lnSpc>
                  <a:spcPts val="3359"/>
                </a:lnSpc>
              </a:pPr>
              <a:endParaRPr/>
            </a:p>
          </p:txBody>
        </p:sp>
        <p:sp>
          <p:nvSpPr>
            <p:cNvPr id="1048586" name="TextBox 5"/>
            <p:cNvSpPr txBox="1"/>
            <p:nvPr/>
          </p:nvSpPr>
          <p:spPr>
            <a:xfrm>
              <a:off x="0" y="7563787"/>
              <a:ext cx="13974990" cy="805858"/>
            </a:xfrm>
            <a:prstGeom prst="rect">
              <a:avLst/>
            </a:prstGeom>
          </p:spPr>
          <p:txBody>
            <a:bodyPr lIns="0" tIns="0" rIns="0" bIns="0" rtlCol="0" anchor="t">
              <a:spAutoFit/>
            </a:bodyPr>
            <a:lstStyle/>
            <a:p>
              <a:pPr>
                <a:lnSpc>
                  <a:spcPts val="4759"/>
                </a:lnSpc>
              </a:pPr>
              <a:endParaRPr/>
            </a:p>
          </p:txBody>
        </p:sp>
      </p:grpSp>
      <p:sp>
        <p:nvSpPr>
          <p:cNvPr id="1048588" name="Freeform 7"/>
          <p:cNvSpPr/>
          <p:nvPr/>
        </p:nvSpPr>
        <p:spPr>
          <a:xfrm>
            <a:off x="304800" y="357300"/>
            <a:ext cx="1268007" cy="1375550"/>
          </a:xfrm>
          <a:custGeom>
            <a:avLst/>
            <a:gdLst/>
            <a:ahLst/>
            <a:cxnLst/>
            <a:rect l="l" t="t" r="r" b="b"/>
            <a:pathLst>
              <a:path w="1268007" h="1375550">
                <a:moveTo>
                  <a:pt x="0" y="0"/>
                </a:moveTo>
                <a:lnTo>
                  <a:pt x="1268008" y="0"/>
                </a:lnTo>
                <a:lnTo>
                  <a:pt x="1268008" y="1375551"/>
                </a:lnTo>
                <a:lnTo>
                  <a:pt x="0" y="1375551"/>
                </a:lnTo>
                <a:lnTo>
                  <a:pt x="0" y="0"/>
                </a:lnTo>
                <a:close/>
              </a:path>
            </a:pathLst>
          </a:custGeom>
          <a:blipFill>
            <a:blip r:embed="rId2"/>
            <a:stretch>
              <a:fillRect/>
            </a:stretch>
          </a:blipFill>
        </p:spPr>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3736675"/>
            <a:ext cx="5586864" cy="4190148"/>
          </a:xfrm>
          <a:prstGeom prst="rect">
            <a:avLst/>
          </a:prstGeom>
        </p:spPr>
      </p:pic>
      <p:sp>
        <p:nvSpPr>
          <p:cNvPr id="5" name="TextBox 4"/>
          <p:cNvSpPr txBox="1"/>
          <p:nvPr/>
        </p:nvSpPr>
        <p:spPr>
          <a:xfrm>
            <a:off x="7543800" y="6591300"/>
            <a:ext cx="8839200" cy="1446550"/>
          </a:xfrm>
          <a:prstGeom prst="rect">
            <a:avLst/>
          </a:prstGeom>
          <a:noFill/>
        </p:spPr>
        <p:txBody>
          <a:bodyPr wrap="square" rtlCol="0">
            <a:spAutoFit/>
          </a:bodyPr>
          <a:lstStyle/>
          <a:p>
            <a:r>
              <a:rPr lang="en-US" sz="4400" b="1" dirty="0">
                <a:solidFill>
                  <a:schemeClr val="accent6">
                    <a:lumMod val="40000"/>
                    <a:lumOff val="60000"/>
                  </a:schemeClr>
                </a:solidFill>
                <a:effectLst>
                  <a:outerShdw blurRad="38100" dist="38100" dir="2700000" algn="tl">
                    <a:srgbClr val="000000">
                      <a:alpha val="43137"/>
                    </a:srgbClr>
                  </a:outerShdw>
                </a:effectLst>
              </a:rPr>
              <a:t>TEAM MEMBERS:</a:t>
            </a:r>
          </a:p>
          <a:p>
            <a:r>
              <a:rPr lang="en-US" sz="4400" b="1" dirty="0">
                <a:solidFill>
                  <a:schemeClr val="accent6">
                    <a:lumMod val="40000"/>
                    <a:lumOff val="60000"/>
                  </a:schemeClr>
                </a:solidFill>
                <a:effectLst>
                  <a:outerShdw blurRad="38100" dist="38100" dir="2700000" algn="tl">
                    <a:srgbClr val="000000">
                      <a:alpha val="43137"/>
                    </a:srgbClr>
                  </a:outerShdw>
                </a:effectLst>
              </a:rPr>
              <a:t>AKSHAI KRISHNA A (211521104007)</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32" name="Group 2"/>
          <p:cNvGrpSpPr/>
          <p:nvPr/>
        </p:nvGrpSpPr>
        <p:grpSpPr>
          <a:xfrm>
            <a:off x="1028700" y="2309434"/>
            <a:ext cx="6060519" cy="6652549"/>
            <a:chOff x="0" y="0"/>
            <a:chExt cx="8080692" cy="8870065"/>
          </a:xfrm>
        </p:grpSpPr>
        <p:sp>
          <p:nvSpPr>
            <p:cNvPr id="1048589" name="Freeform 3"/>
            <p:cNvSpPr/>
            <p:nvPr/>
          </p:nvSpPr>
          <p:spPr>
            <a:xfrm>
              <a:off x="0" y="0"/>
              <a:ext cx="5166060" cy="6830128"/>
            </a:xfrm>
            <a:custGeom>
              <a:avLst/>
              <a:gdLst/>
              <a:ahLst/>
              <a:cxnLst/>
              <a:rect l="l" t="t" r="r" b="b"/>
              <a:pathLst>
                <a:path w="5166060" h="6830128">
                  <a:moveTo>
                    <a:pt x="0" y="0"/>
                  </a:moveTo>
                  <a:lnTo>
                    <a:pt x="5166060" y="0"/>
                  </a:lnTo>
                  <a:lnTo>
                    <a:pt x="5166060" y="6830128"/>
                  </a:lnTo>
                  <a:lnTo>
                    <a:pt x="0" y="6830128"/>
                  </a:lnTo>
                  <a:lnTo>
                    <a:pt x="0" y="0"/>
                  </a:lnTo>
                  <a:close/>
                </a:path>
              </a:pathLst>
            </a:custGeom>
            <a:blipFill>
              <a:blip r:embed="rId2"/>
              <a:stretch>
                <a:fillRect/>
              </a:stretch>
            </a:blipFill>
          </p:spPr>
        </p:sp>
        <p:sp>
          <p:nvSpPr>
            <p:cNvPr id="1048590" name="Freeform 4"/>
            <p:cNvSpPr/>
            <p:nvPr/>
          </p:nvSpPr>
          <p:spPr>
            <a:xfrm>
              <a:off x="1428290" y="1054304"/>
              <a:ext cx="5166060" cy="6830128"/>
            </a:xfrm>
            <a:custGeom>
              <a:avLst/>
              <a:gdLst/>
              <a:ahLst/>
              <a:cxnLst/>
              <a:rect l="l" t="t" r="r" b="b"/>
              <a:pathLst>
                <a:path w="5166060" h="6830128">
                  <a:moveTo>
                    <a:pt x="0" y="0"/>
                  </a:moveTo>
                  <a:lnTo>
                    <a:pt x="5166060" y="0"/>
                  </a:lnTo>
                  <a:lnTo>
                    <a:pt x="5166060" y="6830128"/>
                  </a:lnTo>
                  <a:lnTo>
                    <a:pt x="0" y="6830128"/>
                  </a:lnTo>
                  <a:lnTo>
                    <a:pt x="0" y="0"/>
                  </a:lnTo>
                  <a:close/>
                </a:path>
              </a:pathLst>
            </a:custGeom>
            <a:blipFill>
              <a:blip r:embed="rId3"/>
              <a:stretch>
                <a:fillRect/>
              </a:stretch>
            </a:blipFill>
          </p:spPr>
        </p:sp>
        <p:sp>
          <p:nvSpPr>
            <p:cNvPr id="1048591" name="Freeform 5"/>
            <p:cNvSpPr/>
            <p:nvPr/>
          </p:nvSpPr>
          <p:spPr>
            <a:xfrm>
              <a:off x="2914631" y="2039937"/>
              <a:ext cx="5166060" cy="6830128"/>
            </a:xfrm>
            <a:custGeom>
              <a:avLst/>
              <a:gdLst/>
              <a:ahLst/>
              <a:cxnLst/>
              <a:rect l="l" t="t" r="r" b="b"/>
              <a:pathLst>
                <a:path w="5166060" h="6830128">
                  <a:moveTo>
                    <a:pt x="0" y="0"/>
                  </a:moveTo>
                  <a:lnTo>
                    <a:pt x="5166061" y="0"/>
                  </a:lnTo>
                  <a:lnTo>
                    <a:pt x="5166061" y="6830128"/>
                  </a:lnTo>
                  <a:lnTo>
                    <a:pt x="0" y="6830128"/>
                  </a:lnTo>
                  <a:lnTo>
                    <a:pt x="0" y="0"/>
                  </a:lnTo>
                  <a:close/>
                </a:path>
              </a:pathLst>
            </a:custGeom>
            <a:blipFill>
              <a:blip r:embed="rId4"/>
              <a:stretch>
                <a:fillRect/>
              </a:stretch>
            </a:blipFill>
          </p:spPr>
        </p:sp>
      </p:grpSp>
      <p:graphicFrame>
        <p:nvGraphicFramePr>
          <p:cNvPr id="4194304" name="Table 6"/>
          <p:cNvGraphicFramePr>
            <a:graphicFrameLocks noGrp="1"/>
          </p:cNvGraphicFramePr>
          <p:nvPr>
            <p:extLst>
              <p:ext uri="{D42A27DB-BD31-4B8C-83A1-F6EECF244321}">
                <p14:modId xmlns:p14="http://schemas.microsoft.com/office/powerpoint/2010/main" val="4023529100"/>
              </p:ext>
            </p:extLst>
          </p:nvPr>
        </p:nvGraphicFramePr>
        <p:xfrm>
          <a:off x="8062566" y="1028700"/>
          <a:ext cx="8900153" cy="10401299"/>
        </p:xfrm>
        <a:graphic>
          <a:graphicData uri="http://schemas.openxmlformats.org/drawingml/2006/table">
            <a:tbl>
              <a:tblPr/>
              <a:tblGrid>
                <a:gridCol w="8900153">
                  <a:extLst>
                    <a:ext uri="{9D8B030D-6E8A-4147-A177-3AD203B41FA5}">
                      <a16:colId xmlns:a16="http://schemas.microsoft.com/office/drawing/2014/main" val="20000"/>
                    </a:ext>
                  </a:extLst>
                </a:gridCol>
              </a:tblGrid>
              <a:tr h="2089846">
                <a:tc>
                  <a:txBody>
                    <a:bodyPr/>
                    <a:lstStyle/>
                    <a:p>
                      <a:pPr algn="l">
                        <a:lnSpc>
                          <a:spcPts val="11340"/>
                        </a:lnSpc>
                      </a:pPr>
                      <a:r>
                        <a:rPr lang="en-US" sz="8100" dirty="0">
                          <a:solidFill>
                            <a:srgbClr val="F7B4A7"/>
                          </a:solidFill>
                          <a:latin typeface="Clear Sans"/>
                        </a:rPr>
                        <a:t>Abstract</a:t>
                      </a:r>
                      <a:endParaRPr lang="en-US" sz="1100" dirty="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0"/>
                  </a:ext>
                </a:extLst>
              </a:tr>
              <a:tr h="6221607">
                <a:tc>
                  <a:txBody>
                    <a:bodyPr/>
                    <a:lstStyle/>
                    <a:p>
                      <a:pPr algn="l">
                        <a:lnSpc>
                          <a:spcPts val="4060"/>
                        </a:lnSpc>
                      </a:pPr>
                      <a:r>
                        <a:rPr lang="en-US" sz="2900" dirty="0">
                          <a:solidFill>
                            <a:srgbClr val="94DDDE"/>
                          </a:solidFill>
                          <a:latin typeface="Clear Sans"/>
                        </a:rPr>
                        <a:t>"Safe Traverse: Collision-Free Car" is an obstacle-avoiding robot utilizing </a:t>
                      </a:r>
                      <a:r>
                        <a:rPr lang="en-US" sz="2900" dirty="0" err="1">
                          <a:solidFill>
                            <a:srgbClr val="94DDDE"/>
                          </a:solidFill>
                          <a:latin typeface="Clear Sans"/>
                        </a:rPr>
                        <a:t>Arduino</a:t>
                      </a:r>
                      <a:r>
                        <a:rPr lang="en-US" sz="2900" dirty="0">
                          <a:solidFill>
                            <a:srgbClr val="94DDDE"/>
                          </a:solidFill>
                          <a:latin typeface="Clear Sans"/>
                        </a:rPr>
                        <a:t> Uno, L298N motor driver, servo motor, and ultrasonic sensor. It autonomously navigates, avoiding obstacles for safe traversal. Through sensor fusion and precise algorithms, it negotiates environments effectively. Future iterations may enhance sensor technologies and </a:t>
                      </a:r>
                      <a:r>
                        <a:rPr lang="en-US" sz="2900" dirty="0" err="1">
                          <a:solidFill>
                            <a:srgbClr val="94DDDE"/>
                          </a:solidFill>
                          <a:latin typeface="Clear Sans"/>
                        </a:rPr>
                        <a:t>IoT</a:t>
                      </a:r>
                      <a:r>
                        <a:rPr lang="en-US" sz="2900" dirty="0">
                          <a:solidFill>
                            <a:srgbClr val="94DDDE"/>
                          </a:solidFill>
                          <a:latin typeface="Clear Sans"/>
                        </a:rPr>
                        <a:t> integration. This project demonstrates the potential of merging hardware and software for intelligent transportation solutions.</a:t>
                      </a:r>
                      <a:endParaRPr lang="en-US" sz="1100" dirty="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1"/>
                  </a:ext>
                </a:extLst>
              </a:tr>
              <a:tr h="2089846">
                <a:tc>
                  <a:txBody>
                    <a:bodyPr/>
                    <a:lstStyle/>
                    <a:p>
                      <a:pPr algn="l">
                        <a:lnSpc>
                          <a:spcPts val="11340"/>
                        </a:lnSpc>
                      </a:pPr>
                      <a:endParaRPr lang="en-US" sz="1100"/>
                    </a:p>
                  </a:txBody>
                  <a:tcPr marL="190500" marR="190500" marT="190500" marB="190500" anchor="ctr">
                    <a:lnL w="66675" cap="flat" cmpd="sng" algn="ctr">
                      <a:solidFill>
                        <a:srgbClr val="2B4B82"/>
                      </a:solidFill>
                      <a:prstDash val="solid"/>
                      <a:round/>
                      <a:headEnd type="none" w="med" len="med"/>
                      <a:tailEnd type="none" w="med" len="med"/>
                    </a:lnL>
                    <a:lnR w="66675" cap="flat" cmpd="sng" algn="ctr">
                      <a:solidFill>
                        <a:srgbClr val="2B4B82"/>
                      </a:solidFill>
                      <a:prstDash val="solid"/>
                      <a:round/>
                      <a:headEnd type="none" w="med" len="med"/>
                      <a:tailEnd type="none" w="med" len="med"/>
                    </a:lnR>
                    <a:lnT w="66675" cap="flat" cmpd="sng" algn="ctr">
                      <a:solidFill>
                        <a:srgbClr val="2B4B82"/>
                      </a:solidFill>
                      <a:prstDash val="solid"/>
                      <a:round/>
                      <a:headEnd type="none" w="med" len="med"/>
                      <a:tailEnd type="none" w="med" len="med"/>
                    </a:lnT>
                    <a:lnB w="6667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ABC1"/>
        </a:solidFill>
        <a:effectLst/>
      </p:bgPr>
    </p:bg>
    <p:spTree>
      <p:nvGrpSpPr>
        <p:cNvPr id="1" name=""/>
        <p:cNvGrpSpPr/>
        <p:nvPr/>
      </p:nvGrpSpPr>
      <p:grpSpPr>
        <a:xfrm>
          <a:off x="0" y="0"/>
          <a:ext cx="0" cy="0"/>
          <a:chOff x="0" y="0"/>
          <a:chExt cx="0" cy="0"/>
        </a:xfrm>
      </p:grpSpPr>
      <p:sp>
        <p:nvSpPr>
          <p:cNvPr id="1048592" name="Freeform 2"/>
          <p:cNvSpPr/>
          <p:nvPr/>
        </p:nvSpPr>
        <p:spPr>
          <a:xfrm>
            <a:off x="10183990" y="1951228"/>
            <a:ext cx="6338112" cy="6384545"/>
          </a:xfrm>
          <a:custGeom>
            <a:avLst/>
            <a:gdLst/>
            <a:ahLst/>
            <a:cxnLst/>
            <a:rect l="l" t="t" r="r" b="b"/>
            <a:pathLst>
              <a:path w="6338112" h="6384545">
                <a:moveTo>
                  <a:pt x="0" y="0"/>
                </a:moveTo>
                <a:lnTo>
                  <a:pt x="6338111" y="0"/>
                </a:lnTo>
                <a:lnTo>
                  <a:pt x="6338111" y="6384544"/>
                </a:lnTo>
                <a:lnTo>
                  <a:pt x="0" y="6384544"/>
                </a:lnTo>
                <a:lnTo>
                  <a:pt x="0" y="0"/>
                </a:lnTo>
                <a:close/>
              </a:path>
            </a:pathLst>
          </a:custGeom>
          <a:blipFill>
            <a:blip r:embed="rId2"/>
            <a:stretch>
              <a:fillRect/>
            </a:stretch>
          </a:blipFill>
        </p:spPr>
      </p:sp>
      <p:sp>
        <p:nvSpPr>
          <p:cNvPr id="1048593" name="TextBox 3"/>
          <p:cNvSpPr txBox="1"/>
          <p:nvPr/>
        </p:nvSpPr>
        <p:spPr>
          <a:xfrm>
            <a:off x="1615956" y="3914775"/>
            <a:ext cx="7268114" cy="2447925"/>
          </a:xfrm>
          <a:prstGeom prst="rect">
            <a:avLst/>
          </a:prstGeom>
        </p:spPr>
        <p:txBody>
          <a:bodyPr lIns="0" tIns="0" rIns="0" bIns="0" rtlCol="0" anchor="t">
            <a:spAutoFit/>
          </a:bodyPr>
          <a:lstStyle/>
          <a:p>
            <a:pPr>
              <a:lnSpc>
                <a:spcPts val="9600"/>
              </a:lnSpc>
            </a:pPr>
            <a:r>
              <a:rPr lang="en-US" sz="8000">
                <a:solidFill>
                  <a:srgbClr val="000000"/>
                </a:solidFill>
                <a:latin typeface="Clear Sans Bold"/>
              </a:rPr>
              <a:t>COMPONENTS REQUIRED</a:t>
            </a:r>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1048596" name="TextBox 4"/>
          <p:cNvSpPr txBox="1"/>
          <p:nvPr/>
        </p:nvSpPr>
        <p:spPr>
          <a:xfrm>
            <a:off x="1028700" y="2287905"/>
            <a:ext cx="9358913" cy="497840"/>
          </a:xfrm>
          <a:prstGeom prst="rect">
            <a:avLst/>
          </a:prstGeom>
        </p:spPr>
        <p:txBody>
          <a:bodyPr lIns="0" tIns="0" rIns="0" bIns="0" rtlCol="0" anchor="t">
            <a:spAutoFit/>
          </a:bodyPr>
          <a:lstStyle/>
          <a:p>
            <a:pPr>
              <a:lnSpc>
                <a:spcPts val="4060"/>
              </a:lnSpc>
            </a:pPr>
            <a:endParaRPr/>
          </a:p>
        </p:txBody>
      </p:sp>
      <p:sp>
        <p:nvSpPr>
          <p:cNvPr id="1048597" name="TextBox 5"/>
          <p:cNvSpPr txBox="1"/>
          <p:nvPr/>
        </p:nvSpPr>
        <p:spPr>
          <a:xfrm>
            <a:off x="304800" y="1840288"/>
            <a:ext cx="12820652" cy="1762534"/>
          </a:xfrm>
          <a:prstGeom prst="rect">
            <a:avLst/>
          </a:prstGeom>
        </p:spPr>
        <p:txBody>
          <a:bodyPr lIns="0" tIns="0" rIns="0" bIns="0" rtlCol="0" anchor="t">
            <a:spAutoFit/>
          </a:bodyPr>
          <a:lstStyle/>
          <a:p>
            <a:pPr>
              <a:lnSpc>
                <a:spcPts val="4701"/>
              </a:lnSpc>
            </a:pPr>
            <a:r>
              <a:rPr lang="en-US" sz="3358" b="1" u="sng" dirty="0" err="1">
                <a:solidFill>
                  <a:srgbClr val="FEFEFE"/>
                </a:solidFill>
                <a:latin typeface="Clear Sans"/>
              </a:rPr>
              <a:t>Arduino</a:t>
            </a:r>
            <a:r>
              <a:rPr lang="en-US" sz="3358" b="1" u="sng" dirty="0">
                <a:solidFill>
                  <a:srgbClr val="FEFEFE"/>
                </a:solidFill>
                <a:latin typeface="Clear Sans"/>
              </a:rPr>
              <a:t> Uno</a:t>
            </a:r>
            <a:r>
              <a:rPr lang="en-US" sz="3358" dirty="0">
                <a:solidFill>
                  <a:srgbClr val="FEFEFE"/>
                </a:solidFill>
                <a:latin typeface="Clear Sans"/>
              </a:rPr>
              <a:t>: An open-source microcontroller board, widely used for building digital devices and interactive objects that can sense and control physical devices.</a:t>
            </a:r>
          </a:p>
        </p:txBody>
      </p:sp>
      <p:sp>
        <p:nvSpPr>
          <p:cNvPr id="1048598" name="TextBox 6"/>
          <p:cNvSpPr txBox="1"/>
          <p:nvPr/>
        </p:nvSpPr>
        <p:spPr>
          <a:xfrm>
            <a:off x="6348265" y="6152532"/>
            <a:ext cx="10911035" cy="1649106"/>
          </a:xfrm>
          <a:prstGeom prst="rect">
            <a:avLst/>
          </a:prstGeom>
        </p:spPr>
        <p:txBody>
          <a:bodyPr lIns="0" tIns="0" rIns="0" bIns="0" rtlCol="0" anchor="t">
            <a:spAutoFit/>
          </a:bodyPr>
          <a:lstStyle/>
          <a:p>
            <a:pPr>
              <a:lnSpc>
                <a:spcPts val="4358"/>
              </a:lnSpc>
            </a:pPr>
            <a:r>
              <a:rPr lang="en-US" sz="3112" b="1" u="sng" dirty="0">
                <a:solidFill>
                  <a:srgbClr val="FEFEFE"/>
                </a:solidFill>
                <a:latin typeface="Clear Sans"/>
              </a:rPr>
              <a:t>L298N motor driver</a:t>
            </a:r>
            <a:r>
              <a:rPr lang="en-US" sz="3112" dirty="0">
                <a:solidFill>
                  <a:srgbClr val="FEFEFE"/>
                </a:solidFill>
                <a:latin typeface="Clear Sans"/>
              </a:rPr>
              <a:t>: A dual H-bridge motor driver module, commonly used to control the direction and speed of DC motors and stepper motors.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5618" y="876300"/>
            <a:ext cx="4552950" cy="455295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11" y="5429250"/>
            <a:ext cx="5572125" cy="3714750"/>
          </a:xfrm>
          <a:prstGeom prst="rect">
            <a:avLst/>
          </a:prstGeom>
        </p:spPr>
      </p:pic>
    </p:spTree>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ABC1"/>
        </a:solidFill>
        <a:effectLst/>
      </p:bgPr>
    </p:bg>
    <p:spTree>
      <p:nvGrpSpPr>
        <p:cNvPr id="1" name=""/>
        <p:cNvGrpSpPr/>
        <p:nvPr/>
      </p:nvGrpSpPr>
      <p:grpSpPr>
        <a:xfrm>
          <a:off x="0" y="0"/>
          <a:ext cx="0" cy="0"/>
          <a:chOff x="0" y="0"/>
          <a:chExt cx="0" cy="0"/>
        </a:xfrm>
      </p:grpSpPr>
      <p:sp>
        <p:nvSpPr>
          <p:cNvPr id="1048601" name="TextBox 4"/>
          <p:cNvSpPr txBox="1"/>
          <p:nvPr/>
        </p:nvSpPr>
        <p:spPr>
          <a:xfrm>
            <a:off x="1028700" y="2329402"/>
            <a:ext cx="9358913" cy="497840"/>
          </a:xfrm>
          <a:prstGeom prst="rect">
            <a:avLst/>
          </a:prstGeom>
        </p:spPr>
        <p:txBody>
          <a:bodyPr lIns="0" tIns="0" rIns="0" bIns="0" rtlCol="0" anchor="t">
            <a:spAutoFit/>
          </a:bodyPr>
          <a:lstStyle/>
          <a:p>
            <a:pPr>
              <a:lnSpc>
                <a:spcPts val="4060"/>
              </a:lnSpc>
            </a:pPr>
            <a:endParaRPr/>
          </a:p>
        </p:txBody>
      </p:sp>
      <p:sp>
        <p:nvSpPr>
          <p:cNvPr id="1048602" name="TextBox 5"/>
          <p:cNvSpPr txBox="1"/>
          <p:nvPr/>
        </p:nvSpPr>
        <p:spPr>
          <a:xfrm>
            <a:off x="1028700" y="5596154"/>
            <a:ext cx="11930613" cy="1792437"/>
          </a:xfrm>
          <a:prstGeom prst="rect">
            <a:avLst/>
          </a:prstGeom>
        </p:spPr>
        <p:txBody>
          <a:bodyPr lIns="0" tIns="0" rIns="0" bIns="0" rtlCol="0" anchor="t">
            <a:spAutoFit/>
          </a:bodyPr>
          <a:lstStyle/>
          <a:p>
            <a:pPr>
              <a:lnSpc>
                <a:spcPts val="4765"/>
              </a:lnSpc>
              <a:spcBef>
                <a:spcPct val="0"/>
              </a:spcBef>
            </a:pPr>
            <a:r>
              <a:rPr lang="en-US" sz="3403" b="1" u="sng" dirty="0">
                <a:solidFill>
                  <a:srgbClr val="000000"/>
                </a:solidFill>
                <a:latin typeface="Clear Sans"/>
              </a:rPr>
              <a:t>Servo motor</a:t>
            </a:r>
            <a:r>
              <a:rPr lang="en-US" sz="3403" dirty="0">
                <a:solidFill>
                  <a:srgbClr val="000000"/>
                </a:solidFill>
                <a:latin typeface="Clear Sans"/>
              </a:rPr>
              <a:t>: A type of motor that allows for precise control of angular position, commonly used in robotics and RC vehicles for tasks such as steering and arm movement.</a:t>
            </a:r>
          </a:p>
        </p:txBody>
      </p:sp>
      <p:sp>
        <p:nvSpPr>
          <p:cNvPr id="1048605" name="TextBox 8"/>
          <p:cNvSpPr txBox="1"/>
          <p:nvPr/>
        </p:nvSpPr>
        <p:spPr>
          <a:xfrm>
            <a:off x="5708156" y="952501"/>
            <a:ext cx="11760346" cy="1913088"/>
          </a:xfrm>
          <a:prstGeom prst="rect">
            <a:avLst/>
          </a:prstGeom>
        </p:spPr>
        <p:txBody>
          <a:bodyPr wrap="square" lIns="0" tIns="0" rIns="0" bIns="0" rtlCol="0" anchor="t">
            <a:spAutoFit/>
          </a:bodyPr>
          <a:lstStyle/>
          <a:p>
            <a:pPr algn="r">
              <a:lnSpc>
                <a:spcPts val="5123"/>
              </a:lnSpc>
              <a:spcBef>
                <a:spcPct val="0"/>
              </a:spcBef>
            </a:pPr>
            <a:r>
              <a:rPr lang="en-US" sz="3659" b="1" u="sng" dirty="0">
                <a:solidFill>
                  <a:srgbClr val="000000"/>
                </a:solidFill>
                <a:latin typeface="Clear Sans"/>
              </a:rPr>
              <a:t>TT gear motors</a:t>
            </a:r>
            <a:r>
              <a:rPr lang="en-US" sz="3659" dirty="0">
                <a:solidFill>
                  <a:srgbClr val="000000"/>
                </a:solidFill>
                <a:latin typeface="Clear Sans"/>
              </a:rPr>
              <a:t>: Geared motors with high torque output, suitable for various robotics and automation applications due to their compact size and efficiency.</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354" y="731683"/>
            <a:ext cx="4393646" cy="329523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4574" y="4802772"/>
            <a:ext cx="4730884" cy="3379203"/>
          </a:xfrm>
          <a:prstGeom prst="rect">
            <a:avLst/>
          </a:prstGeom>
        </p:spPr>
      </p:pic>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1048607" name="TextBox 3"/>
          <p:cNvSpPr txBox="1"/>
          <p:nvPr/>
        </p:nvSpPr>
        <p:spPr>
          <a:xfrm>
            <a:off x="1028700" y="2287905"/>
            <a:ext cx="9358913" cy="497840"/>
          </a:xfrm>
          <a:prstGeom prst="rect">
            <a:avLst/>
          </a:prstGeom>
        </p:spPr>
        <p:txBody>
          <a:bodyPr lIns="0" tIns="0" rIns="0" bIns="0" rtlCol="0" anchor="t">
            <a:spAutoFit/>
          </a:bodyPr>
          <a:lstStyle/>
          <a:p>
            <a:pPr>
              <a:lnSpc>
                <a:spcPts val="4060"/>
              </a:lnSpc>
            </a:pPr>
            <a:endParaRPr/>
          </a:p>
        </p:txBody>
      </p:sp>
      <p:sp>
        <p:nvSpPr>
          <p:cNvPr id="1048609" name="TextBox 5"/>
          <p:cNvSpPr txBox="1"/>
          <p:nvPr/>
        </p:nvSpPr>
        <p:spPr>
          <a:xfrm>
            <a:off x="6337356" y="1575038"/>
            <a:ext cx="11953754" cy="2388107"/>
          </a:xfrm>
          <a:prstGeom prst="rect">
            <a:avLst/>
          </a:prstGeom>
        </p:spPr>
        <p:txBody>
          <a:bodyPr wrap="square" lIns="0" tIns="0" rIns="0" bIns="0" rtlCol="0" anchor="t">
            <a:spAutoFit/>
          </a:bodyPr>
          <a:lstStyle/>
          <a:p>
            <a:pPr>
              <a:lnSpc>
                <a:spcPts val="4701"/>
              </a:lnSpc>
              <a:spcBef>
                <a:spcPct val="0"/>
              </a:spcBef>
            </a:pPr>
            <a:r>
              <a:rPr lang="en-US" sz="3358" b="1" u="sng" dirty="0">
                <a:solidFill>
                  <a:srgbClr val="FEFEFE"/>
                </a:solidFill>
                <a:latin typeface="Clear Sans"/>
              </a:rPr>
              <a:t>Ultrasonic Sensor</a:t>
            </a:r>
            <a:r>
              <a:rPr lang="en-US" sz="3358" dirty="0">
                <a:solidFill>
                  <a:srgbClr val="FEFEFE"/>
                </a:solidFill>
                <a:latin typeface="Clear Sans"/>
              </a:rPr>
              <a:t>: A sensor that measures distance by emitting ultrasonic waves and calculating the time it takes for the waves to bounce back, commonly used in robotics for obstacle detection and navigation.</a:t>
            </a:r>
          </a:p>
        </p:txBody>
      </p:sp>
      <p:sp>
        <p:nvSpPr>
          <p:cNvPr id="1048610" name="TextBox 6"/>
          <p:cNvSpPr txBox="1"/>
          <p:nvPr/>
        </p:nvSpPr>
        <p:spPr>
          <a:xfrm>
            <a:off x="432271" y="5990494"/>
            <a:ext cx="11499151" cy="2417571"/>
          </a:xfrm>
          <a:prstGeom prst="rect">
            <a:avLst/>
          </a:prstGeom>
        </p:spPr>
        <p:txBody>
          <a:bodyPr lIns="0" tIns="0" rIns="0" bIns="0" rtlCol="0" anchor="t">
            <a:spAutoFit/>
          </a:bodyPr>
          <a:lstStyle/>
          <a:p>
            <a:pPr>
              <a:lnSpc>
                <a:spcPts val="4759"/>
              </a:lnSpc>
              <a:spcBef>
                <a:spcPct val="0"/>
              </a:spcBef>
            </a:pPr>
            <a:r>
              <a:rPr lang="en-US" sz="3399" b="1" u="sng" dirty="0">
                <a:solidFill>
                  <a:srgbClr val="FEFEFE"/>
                </a:solidFill>
                <a:latin typeface="Clear Sans"/>
              </a:rPr>
              <a:t>18650 3.7V Lithium-ion batteries</a:t>
            </a:r>
            <a:r>
              <a:rPr lang="en-US" sz="3399" dirty="0">
                <a:solidFill>
                  <a:srgbClr val="FEFEFE"/>
                </a:solidFill>
                <a:latin typeface="Clear Sans"/>
              </a:rPr>
              <a:t>: Rechargeable batteries known for their high energy density and reliability, widely used in portable electronic devices and robotics projects for powering motors and microcontrollers.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606" y="1104900"/>
            <a:ext cx="5715000" cy="37719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5400" y="5046629"/>
            <a:ext cx="4524375" cy="4305300"/>
          </a:xfrm>
          <a:prstGeom prst="rect">
            <a:avLst/>
          </a:prstGeom>
        </p:spPr>
      </p:pic>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ABC1"/>
        </a:solidFill>
        <a:effectLst/>
      </p:bgPr>
    </p:bg>
    <p:spTree>
      <p:nvGrpSpPr>
        <p:cNvPr id="1" name=""/>
        <p:cNvGrpSpPr/>
        <p:nvPr/>
      </p:nvGrpSpPr>
      <p:grpSpPr>
        <a:xfrm>
          <a:off x="0" y="0"/>
          <a:ext cx="0" cy="0"/>
          <a:chOff x="0" y="0"/>
          <a:chExt cx="0" cy="0"/>
        </a:xfrm>
      </p:grpSpPr>
      <p:sp>
        <p:nvSpPr>
          <p:cNvPr id="1048611" name="Freeform 2"/>
          <p:cNvSpPr/>
          <p:nvPr/>
        </p:nvSpPr>
        <p:spPr>
          <a:xfrm>
            <a:off x="845104" y="1871694"/>
            <a:ext cx="3086100" cy="3086100"/>
          </a:xfrm>
          <a:custGeom>
            <a:avLst/>
            <a:gdLst/>
            <a:ahLst/>
            <a:cxnLst/>
            <a:rect l="l" t="t" r="r" b="b"/>
            <a:pathLst>
              <a:path w="3086100" h="3086100">
                <a:moveTo>
                  <a:pt x="0" y="0"/>
                </a:moveTo>
                <a:lnTo>
                  <a:pt x="3086100" y="0"/>
                </a:lnTo>
                <a:lnTo>
                  <a:pt x="3086100" y="3086100"/>
                </a:lnTo>
                <a:lnTo>
                  <a:pt x="0" y="3086100"/>
                </a:lnTo>
                <a:lnTo>
                  <a:pt x="0" y="0"/>
                </a:lnTo>
                <a:close/>
              </a:path>
            </a:pathLst>
          </a:custGeom>
          <a:blipFill>
            <a:blip r:embed="rId2"/>
            <a:stretch>
              <a:fillRect/>
            </a:stretch>
          </a:blipFill>
        </p:spPr>
      </p:sp>
      <p:sp>
        <p:nvSpPr>
          <p:cNvPr id="1048612" name="Freeform 3"/>
          <p:cNvSpPr/>
          <p:nvPr/>
        </p:nvSpPr>
        <p:spPr>
          <a:xfrm>
            <a:off x="13350422" y="6228393"/>
            <a:ext cx="4126104" cy="2975449"/>
          </a:xfrm>
          <a:custGeom>
            <a:avLst/>
            <a:gdLst/>
            <a:ahLst/>
            <a:cxnLst/>
            <a:rect l="l" t="t" r="r" b="b"/>
            <a:pathLst>
              <a:path w="3102717" h="2778209">
                <a:moveTo>
                  <a:pt x="0" y="0"/>
                </a:moveTo>
                <a:lnTo>
                  <a:pt x="3102717" y="0"/>
                </a:lnTo>
                <a:lnTo>
                  <a:pt x="3102717" y="2778209"/>
                </a:lnTo>
                <a:lnTo>
                  <a:pt x="0" y="2778209"/>
                </a:lnTo>
                <a:lnTo>
                  <a:pt x="0" y="0"/>
                </a:lnTo>
                <a:close/>
              </a:path>
            </a:pathLst>
          </a:custGeom>
          <a:blipFill>
            <a:blip r:embed="rId3"/>
            <a:stretch>
              <a:fillRect l="-35368" t="-5780" r="-15372" b="-27114"/>
            </a:stretch>
          </a:blipFill>
        </p:spPr>
      </p:sp>
      <p:sp>
        <p:nvSpPr>
          <p:cNvPr id="1048614" name="TextBox 5"/>
          <p:cNvSpPr txBox="1"/>
          <p:nvPr/>
        </p:nvSpPr>
        <p:spPr>
          <a:xfrm>
            <a:off x="1028700" y="2329402"/>
            <a:ext cx="9358913" cy="497840"/>
          </a:xfrm>
          <a:prstGeom prst="rect">
            <a:avLst/>
          </a:prstGeom>
        </p:spPr>
        <p:txBody>
          <a:bodyPr lIns="0" tIns="0" rIns="0" bIns="0" rtlCol="0" anchor="t">
            <a:spAutoFit/>
          </a:bodyPr>
          <a:lstStyle/>
          <a:p>
            <a:pPr>
              <a:lnSpc>
                <a:spcPts val="4060"/>
              </a:lnSpc>
            </a:pPr>
            <a:endParaRPr/>
          </a:p>
        </p:txBody>
      </p:sp>
      <p:sp>
        <p:nvSpPr>
          <p:cNvPr id="1048615" name="TextBox 6"/>
          <p:cNvSpPr txBox="1"/>
          <p:nvPr/>
        </p:nvSpPr>
        <p:spPr>
          <a:xfrm>
            <a:off x="1028700" y="6819900"/>
            <a:ext cx="11930613" cy="1792437"/>
          </a:xfrm>
          <a:prstGeom prst="rect">
            <a:avLst/>
          </a:prstGeom>
        </p:spPr>
        <p:txBody>
          <a:bodyPr lIns="0" tIns="0" rIns="0" bIns="0" rtlCol="0" anchor="t">
            <a:spAutoFit/>
          </a:bodyPr>
          <a:lstStyle/>
          <a:p>
            <a:pPr>
              <a:lnSpc>
                <a:spcPts val="4765"/>
              </a:lnSpc>
              <a:spcBef>
                <a:spcPct val="0"/>
              </a:spcBef>
            </a:pPr>
            <a:r>
              <a:rPr lang="en-US" sz="3403" b="1" u="sng" dirty="0">
                <a:solidFill>
                  <a:srgbClr val="000000"/>
                </a:solidFill>
                <a:latin typeface="Clear Sans"/>
              </a:rPr>
              <a:t>Connecting wires</a:t>
            </a:r>
            <a:r>
              <a:rPr lang="en-US" sz="3403" dirty="0">
                <a:solidFill>
                  <a:srgbClr val="000000"/>
                </a:solidFill>
                <a:latin typeface="Clear Sans"/>
              </a:rPr>
              <a:t>: Connecting wires facilitate quick and temporary electrical connections between components in circuits, enabling easy prototyping without soldering.</a:t>
            </a:r>
          </a:p>
        </p:txBody>
      </p:sp>
      <p:sp>
        <p:nvSpPr>
          <p:cNvPr id="1048617" name="TextBox 8"/>
          <p:cNvSpPr txBox="1"/>
          <p:nvPr/>
        </p:nvSpPr>
        <p:spPr>
          <a:xfrm>
            <a:off x="4244505" y="2176763"/>
            <a:ext cx="13448384" cy="2417572"/>
          </a:xfrm>
          <a:prstGeom prst="rect">
            <a:avLst/>
          </a:prstGeom>
        </p:spPr>
        <p:txBody>
          <a:bodyPr lIns="0" tIns="0" rIns="0" bIns="0" rtlCol="0" anchor="t">
            <a:spAutoFit/>
          </a:bodyPr>
          <a:lstStyle/>
          <a:p>
            <a:pPr algn="r">
              <a:lnSpc>
                <a:spcPts val="4759"/>
              </a:lnSpc>
              <a:spcBef>
                <a:spcPct val="0"/>
              </a:spcBef>
            </a:pPr>
            <a:r>
              <a:rPr lang="en-US" sz="3399" b="1" u="sng" dirty="0">
                <a:solidFill>
                  <a:srgbClr val="000000"/>
                </a:solidFill>
                <a:latin typeface="Clear Sans"/>
              </a:rPr>
              <a:t>Jumper wires</a:t>
            </a:r>
            <a:r>
              <a:rPr lang="en-US" sz="3399" dirty="0">
                <a:solidFill>
                  <a:srgbClr val="000000"/>
                </a:solidFill>
                <a:latin typeface="Clear Sans"/>
              </a:rPr>
              <a:t>: Jumper wires are used to create electrical connections between components on a breadboard or between components and a circuit board. They come in various lengths and can have male or female connectors.</a:t>
            </a:r>
          </a:p>
        </p:txBody>
      </p:sp>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1048618" name="Freeform 2"/>
          <p:cNvSpPr/>
          <p:nvPr/>
        </p:nvSpPr>
        <p:spPr>
          <a:xfrm>
            <a:off x="13755529" y="4135622"/>
            <a:ext cx="8594883" cy="8229600"/>
          </a:xfrm>
          <a:custGeom>
            <a:avLst/>
            <a:gdLst/>
            <a:ahLst/>
            <a:cxnLst/>
            <a:rect l="l" t="t" r="r" b="b"/>
            <a:pathLst>
              <a:path w="8594883" h="8229600">
                <a:moveTo>
                  <a:pt x="0" y="0"/>
                </a:moveTo>
                <a:lnTo>
                  <a:pt x="8594882" y="0"/>
                </a:lnTo>
                <a:lnTo>
                  <a:pt x="8594882" y="8229600"/>
                </a:lnTo>
                <a:lnTo>
                  <a:pt x="0" y="8229600"/>
                </a:lnTo>
                <a:lnTo>
                  <a:pt x="0" y="0"/>
                </a:lnTo>
                <a:close/>
              </a:path>
            </a:pathLst>
          </a:custGeom>
          <a:blipFill>
            <a:blip r:embed="rId2"/>
            <a:stretch>
              <a:fillRect/>
            </a:stretch>
          </a:blipFill>
        </p:spPr>
      </p:sp>
      <p:sp>
        <p:nvSpPr>
          <p:cNvPr id="1048619" name="Freeform 3"/>
          <p:cNvSpPr/>
          <p:nvPr/>
        </p:nvSpPr>
        <p:spPr>
          <a:xfrm>
            <a:off x="28157" y="6172200"/>
            <a:ext cx="1000543" cy="4114800"/>
          </a:xfrm>
          <a:custGeom>
            <a:avLst/>
            <a:gdLst/>
            <a:ahLst/>
            <a:cxnLst/>
            <a:rect l="l" t="t" r="r" b="b"/>
            <a:pathLst>
              <a:path w="1000543" h="4114800">
                <a:moveTo>
                  <a:pt x="0" y="0"/>
                </a:moveTo>
                <a:lnTo>
                  <a:pt x="1000543" y="0"/>
                </a:lnTo>
                <a:lnTo>
                  <a:pt x="1000543" y="4114800"/>
                </a:lnTo>
                <a:lnTo>
                  <a:pt x="0" y="4114800"/>
                </a:lnTo>
                <a:lnTo>
                  <a:pt x="0" y="0"/>
                </a:lnTo>
                <a:close/>
              </a:path>
            </a:pathLst>
          </a:custGeom>
          <a:blipFill>
            <a:blip r:embed="rId3"/>
            <a:stretch>
              <a:fillRect/>
            </a:stretch>
          </a:blipFill>
        </p:spPr>
      </p:sp>
      <p:sp>
        <p:nvSpPr>
          <p:cNvPr id="1048620" name="Freeform 4"/>
          <p:cNvSpPr/>
          <p:nvPr/>
        </p:nvSpPr>
        <p:spPr>
          <a:xfrm>
            <a:off x="1028700" y="7581900"/>
            <a:ext cx="1000543" cy="4114800"/>
          </a:xfrm>
          <a:custGeom>
            <a:avLst/>
            <a:gdLst/>
            <a:ahLst/>
            <a:cxnLst/>
            <a:rect l="l" t="t" r="r" b="b"/>
            <a:pathLst>
              <a:path w="1000543" h="4114800">
                <a:moveTo>
                  <a:pt x="0" y="0"/>
                </a:moveTo>
                <a:lnTo>
                  <a:pt x="1000544" y="0"/>
                </a:lnTo>
                <a:lnTo>
                  <a:pt x="1000544" y="4114800"/>
                </a:lnTo>
                <a:lnTo>
                  <a:pt x="0" y="4114800"/>
                </a:lnTo>
                <a:lnTo>
                  <a:pt x="0" y="0"/>
                </a:lnTo>
                <a:close/>
              </a:path>
            </a:pathLst>
          </a:custGeom>
          <a:blipFill>
            <a:blip r:embed="rId3"/>
            <a:stretch>
              <a:fillRect/>
            </a:stretch>
          </a:blipFill>
        </p:spPr>
      </p:sp>
      <p:sp>
        <p:nvSpPr>
          <p:cNvPr id="1048621" name="Freeform 5"/>
          <p:cNvSpPr/>
          <p:nvPr/>
        </p:nvSpPr>
        <p:spPr>
          <a:xfrm>
            <a:off x="-756635" y="600245"/>
            <a:ext cx="2509447" cy="2185500"/>
          </a:xfrm>
          <a:custGeom>
            <a:avLst/>
            <a:gdLst/>
            <a:ahLst/>
            <a:cxnLst/>
            <a:rect l="l" t="t" r="r" b="b"/>
            <a:pathLst>
              <a:path w="2509447" h="2185500">
                <a:moveTo>
                  <a:pt x="0" y="0"/>
                </a:moveTo>
                <a:lnTo>
                  <a:pt x="2509447" y="0"/>
                </a:lnTo>
                <a:lnTo>
                  <a:pt x="2509447" y="2185500"/>
                </a:lnTo>
                <a:lnTo>
                  <a:pt x="0" y="2185500"/>
                </a:lnTo>
                <a:lnTo>
                  <a:pt x="0" y="0"/>
                </a:lnTo>
                <a:close/>
              </a:path>
            </a:pathLst>
          </a:custGeom>
          <a:blipFill>
            <a:blip r:embed="rId4"/>
            <a:stretch>
              <a:fillRect/>
            </a:stretch>
          </a:blipFill>
        </p:spPr>
      </p:sp>
      <p:sp>
        <p:nvSpPr>
          <p:cNvPr id="1048622" name="TextBox 6"/>
          <p:cNvSpPr txBox="1"/>
          <p:nvPr/>
        </p:nvSpPr>
        <p:spPr>
          <a:xfrm>
            <a:off x="1028700" y="2287905"/>
            <a:ext cx="9358913" cy="497840"/>
          </a:xfrm>
          <a:prstGeom prst="rect">
            <a:avLst/>
          </a:prstGeom>
        </p:spPr>
        <p:txBody>
          <a:bodyPr lIns="0" tIns="0" rIns="0" bIns="0" rtlCol="0" anchor="t">
            <a:spAutoFit/>
          </a:bodyPr>
          <a:lstStyle/>
          <a:p>
            <a:pPr>
              <a:lnSpc>
                <a:spcPts val="4060"/>
              </a:lnSpc>
            </a:pPr>
            <a:endParaRPr/>
          </a:p>
        </p:txBody>
      </p:sp>
      <p:sp>
        <p:nvSpPr>
          <p:cNvPr id="1048623" name="TextBox 7"/>
          <p:cNvSpPr txBox="1"/>
          <p:nvPr/>
        </p:nvSpPr>
        <p:spPr>
          <a:xfrm>
            <a:off x="2895600" y="666797"/>
            <a:ext cx="10648507" cy="1603003"/>
          </a:xfrm>
          <a:prstGeom prst="rect">
            <a:avLst/>
          </a:prstGeom>
        </p:spPr>
        <p:txBody>
          <a:bodyPr wrap="square" lIns="0" tIns="0" rIns="0" bIns="0" rtlCol="0" anchor="t">
            <a:spAutoFit/>
          </a:bodyPr>
          <a:lstStyle/>
          <a:p>
            <a:pPr algn="ctr">
              <a:lnSpc>
                <a:spcPts val="12459"/>
              </a:lnSpc>
              <a:spcBef>
                <a:spcPct val="0"/>
              </a:spcBef>
            </a:pPr>
            <a:r>
              <a:rPr lang="en-US" sz="8899" dirty="0">
                <a:solidFill>
                  <a:srgbClr val="FFFFFF"/>
                </a:solidFill>
                <a:latin typeface="Clear Sans Bold"/>
              </a:rPr>
              <a:t>PROPOSED SYSTEM</a:t>
            </a:r>
          </a:p>
        </p:txBody>
      </p:sp>
      <p:sp>
        <p:nvSpPr>
          <p:cNvPr id="8" name="TextBox 7"/>
          <p:cNvSpPr txBox="1"/>
          <p:nvPr/>
        </p:nvSpPr>
        <p:spPr>
          <a:xfrm>
            <a:off x="1600200" y="2966621"/>
            <a:ext cx="14478000" cy="5262979"/>
          </a:xfrm>
          <a:prstGeom prst="rect">
            <a:avLst/>
          </a:prstGeom>
          <a:noFill/>
        </p:spPr>
        <p:txBody>
          <a:bodyPr wrap="square" rtlCol="0">
            <a:spAutoFit/>
          </a:bodyPr>
          <a:lstStyle/>
          <a:p>
            <a:pPr marL="685800" indent="-685800">
              <a:buFont typeface="Wingdings" pitchFamily="2" charset="2"/>
              <a:buChar char="v"/>
            </a:pPr>
            <a:r>
              <a:rPr lang="en-IN" sz="4800" dirty="0">
                <a:solidFill>
                  <a:schemeClr val="bg1"/>
                </a:solidFill>
              </a:rPr>
              <a:t>Autonomous navigation with obstacle avoidance.</a:t>
            </a:r>
          </a:p>
          <a:p>
            <a:pPr marL="685800" indent="-685800">
              <a:buFont typeface="Wingdings" pitchFamily="2" charset="2"/>
              <a:buChar char="v"/>
            </a:pPr>
            <a:r>
              <a:rPr lang="en-IN" sz="4800" dirty="0">
                <a:solidFill>
                  <a:schemeClr val="bg1"/>
                </a:solidFill>
              </a:rPr>
              <a:t>Efficient motor control for precision.</a:t>
            </a:r>
          </a:p>
          <a:p>
            <a:pPr marL="685800" indent="-685800">
              <a:buFont typeface="Wingdings" pitchFamily="2" charset="2"/>
              <a:buChar char="v"/>
            </a:pPr>
            <a:r>
              <a:rPr lang="en-IN" sz="4800" dirty="0">
                <a:solidFill>
                  <a:schemeClr val="bg1"/>
                </a:solidFill>
              </a:rPr>
              <a:t>Real-time obstacle detection for safety.</a:t>
            </a:r>
          </a:p>
          <a:p>
            <a:pPr marL="685800" indent="-685800">
              <a:buFont typeface="Wingdings" pitchFamily="2" charset="2"/>
              <a:buChar char="v"/>
            </a:pPr>
            <a:r>
              <a:rPr lang="en-IN" sz="4800" dirty="0">
                <a:solidFill>
                  <a:schemeClr val="bg1"/>
                </a:solidFill>
              </a:rPr>
              <a:t>Precise steering control for </a:t>
            </a:r>
            <a:r>
              <a:rPr lang="en-IN" sz="4800" dirty="0" err="1">
                <a:solidFill>
                  <a:schemeClr val="bg1"/>
                </a:solidFill>
              </a:rPr>
              <a:t>maneuverability</a:t>
            </a:r>
            <a:r>
              <a:rPr lang="en-IN" sz="4800" dirty="0">
                <a:solidFill>
                  <a:schemeClr val="bg1"/>
                </a:solidFill>
              </a:rPr>
              <a:t>.</a:t>
            </a:r>
          </a:p>
          <a:p>
            <a:pPr marL="685800" indent="-685800">
              <a:buFont typeface="Wingdings" pitchFamily="2" charset="2"/>
              <a:buChar char="v"/>
            </a:pPr>
            <a:r>
              <a:rPr lang="en-IN" sz="4800" dirty="0">
                <a:solidFill>
                  <a:schemeClr val="bg1"/>
                </a:solidFill>
              </a:rPr>
              <a:t>Reliable power source for sustained operation.</a:t>
            </a:r>
          </a:p>
          <a:p>
            <a:pPr marL="685800" indent="-685800">
              <a:buFont typeface="Wingdings" pitchFamily="2" charset="2"/>
              <a:buChar char="v"/>
            </a:pPr>
            <a:r>
              <a:rPr lang="en-IN" sz="4800" dirty="0">
                <a:solidFill>
                  <a:schemeClr val="bg1"/>
                </a:solidFill>
              </a:rPr>
              <a:t>Integration potential with </a:t>
            </a:r>
            <a:r>
              <a:rPr lang="en-IN" sz="4800" dirty="0" err="1">
                <a:solidFill>
                  <a:schemeClr val="bg1"/>
                </a:solidFill>
              </a:rPr>
              <a:t>IoT</a:t>
            </a:r>
            <a:r>
              <a:rPr lang="en-IN" sz="4800" dirty="0">
                <a:solidFill>
                  <a:schemeClr val="bg1"/>
                </a:solidFill>
              </a:rPr>
              <a:t> for enhanced functionality.</a:t>
            </a:r>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3" name="Rectangle 2"/>
          <p:cNvSpPr/>
          <p:nvPr/>
        </p:nvSpPr>
        <p:spPr>
          <a:xfrm>
            <a:off x="4419600" y="800100"/>
            <a:ext cx="9220200" cy="1323439"/>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80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Clear Sans Bold"/>
              </a:rPr>
              <a:t>BLOCK DIAGRAM</a:t>
            </a:r>
            <a:endParaRPr lang="en-IN" sz="80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400300"/>
            <a:ext cx="13182599" cy="7148954"/>
          </a:xfrm>
          <a:prstGeom prst="rect">
            <a:avLst/>
          </a:prstGeom>
        </p:spPr>
      </p:pic>
    </p:spTree>
    <p:extLst>
      <p:ext uri="{BB962C8B-B14F-4D97-AF65-F5344CB8AC3E}">
        <p14:creationId xmlns:p14="http://schemas.microsoft.com/office/powerpoint/2010/main" val="3517101742"/>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grpSp>
        <p:nvGrpSpPr>
          <p:cNvPr id="41" name="Group 2"/>
          <p:cNvGrpSpPr/>
          <p:nvPr/>
        </p:nvGrpSpPr>
        <p:grpSpPr>
          <a:xfrm>
            <a:off x="1028700" y="4127112"/>
            <a:ext cx="16160282" cy="3919513"/>
            <a:chOff x="0" y="0"/>
            <a:chExt cx="21547042" cy="5226018"/>
          </a:xfrm>
        </p:grpSpPr>
        <p:sp>
          <p:nvSpPr>
            <p:cNvPr id="1048626" name="AutoShape 3"/>
            <p:cNvSpPr/>
            <p:nvPr/>
          </p:nvSpPr>
          <p:spPr>
            <a:xfrm flipV="1">
              <a:off x="2231395" y="589349"/>
              <a:ext cx="3313052" cy="0"/>
            </a:xfrm>
            <a:prstGeom prst="line">
              <a:avLst/>
            </a:prstGeom>
            <a:ln w="38100" cap="flat">
              <a:solidFill>
                <a:srgbClr val="31356E"/>
              </a:solidFill>
              <a:prstDash val="solid"/>
              <a:headEnd type="none" w="sm" len="sm"/>
              <a:tailEnd type="none" w="sm" len="sm"/>
            </a:ln>
          </p:spPr>
        </p:sp>
        <p:sp>
          <p:nvSpPr>
            <p:cNvPr id="1048627" name="AutoShape 4"/>
            <p:cNvSpPr/>
            <p:nvPr/>
          </p:nvSpPr>
          <p:spPr>
            <a:xfrm flipV="1">
              <a:off x="6740740" y="589349"/>
              <a:ext cx="3313052" cy="0"/>
            </a:xfrm>
            <a:prstGeom prst="line">
              <a:avLst/>
            </a:prstGeom>
            <a:ln w="38100" cap="flat">
              <a:solidFill>
                <a:srgbClr val="31356E"/>
              </a:solidFill>
              <a:prstDash val="solid"/>
              <a:headEnd type="none" w="sm" len="sm"/>
              <a:tailEnd type="none" w="sm" len="sm"/>
            </a:ln>
          </p:spPr>
        </p:sp>
        <p:sp>
          <p:nvSpPr>
            <p:cNvPr id="1048628" name="AutoShape 5"/>
            <p:cNvSpPr/>
            <p:nvPr/>
          </p:nvSpPr>
          <p:spPr>
            <a:xfrm>
              <a:off x="11250085" y="589349"/>
              <a:ext cx="3313052" cy="0"/>
            </a:xfrm>
            <a:prstGeom prst="line">
              <a:avLst/>
            </a:prstGeom>
            <a:ln w="38100" cap="flat">
              <a:solidFill>
                <a:srgbClr val="31356E"/>
              </a:solidFill>
              <a:prstDash val="solid"/>
              <a:headEnd type="none" w="sm" len="sm"/>
              <a:tailEnd type="none" w="sm" len="sm"/>
            </a:ln>
          </p:spPr>
        </p:sp>
        <p:sp>
          <p:nvSpPr>
            <p:cNvPr id="1048629" name="AutoShape 6"/>
            <p:cNvSpPr/>
            <p:nvPr/>
          </p:nvSpPr>
          <p:spPr>
            <a:xfrm>
              <a:off x="15759430" y="589349"/>
              <a:ext cx="3313052" cy="0"/>
            </a:xfrm>
            <a:prstGeom prst="line">
              <a:avLst/>
            </a:prstGeom>
            <a:ln w="38100" cap="flat">
              <a:solidFill>
                <a:srgbClr val="31356E"/>
              </a:solidFill>
              <a:prstDash val="solid"/>
              <a:headEnd type="none" w="sm" len="sm"/>
              <a:tailEnd type="none" w="sm" len="sm"/>
            </a:ln>
          </p:spPr>
        </p:sp>
        <p:grpSp>
          <p:nvGrpSpPr>
            <p:cNvPr id="42" name="Group 7"/>
            <p:cNvGrpSpPr/>
            <p:nvPr/>
          </p:nvGrpSpPr>
          <p:grpSpPr>
            <a:xfrm>
              <a:off x="1035102" y="0"/>
              <a:ext cx="1196293" cy="1178699"/>
              <a:chOff x="0" y="0"/>
              <a:chExt cx="822623" cy="810524"/>
            </a:xfrm>
          </p:grpSpPr>
          <p:sp>
            <p:nvSpPr>
              <p:cNvPr id="1048630" name="Freeform 8"/>
              <p:cNvSpPr/>
              <p:nvPr/>
            </p:nvSpPr>
            <p:spPr>
              <a:xfrm>
                <a:off x="0" y="0"/>
                <a:ext cx="822623" cy="810524"/>
              </a:xfrm>
              <a:custGeom>
                <a:avLst/>
                <a:gdLst/>
                <a:ahLst/>
                <a:cxnLst/>
                <a:rect l="l" t="t" r="r" b="b"/>
                <a:pathLst>
                  <a:path w="822623" h="810524">
                    <a:moveTo>
                      <a:pt x="0" y="0"/>
                    </a:moveTo>
                    <a:lnTo>
                      <a:pt x="822623" y="0"/>
                    </a:lnTo>
                    <a:lnTo>
                      <a:pt x="822623" y="810524"/>
                    </a:lnTo>
                    <a:lnTo>
                      <a:pt x="0" y="810524"/>
                    </a:lnTo>
                    <a:close/>
                  </a:path>
                </a:pathLst>
              </a:custGeom>
              <a:solidFill>
                <a:srgbClr val="94DDDE"/>
              </a:solidFill>
            </p:spPr>
          </p:sp>
          <p:sp>
            <p:nvSpPr>
              <p:cNvPr id="1048631" name="TextBox 9"/>
              <p:cNvSpPr txBox="1"/>
              <p:nvPr/>
            </p:nvSpPr>
            <p:spPr>
              <a:xfrm>
                <a:off x="0" y="-76200"/>
                <a:ext cx="822623" cy="886724"/>
              </a:xfrm>
              <a:prstGeom prst="rect">
                <a:avLst/>
              </a:prstGeom>
            </p:spPr>
            <p:txBody>
              <a:bodyPr lIns="0" tIns="0" rIns="0" bIns="0" rtlCol="0" anchor="ctr"/>
              <a:lstStyle/>
              <a:p>
                <a:pPr marL="0" lvl="0" indent="0" algn="ctr">
                  <a:lnSpc>
                    <a:spcPts val="6160"/>
                  </a:lnSpc>
                  <a:spcBef>
                    <a:spcPct val="0"/>
                  </a:spcBef>
                </a:pPr>
                <a:r>
                  <a:rPr lang="en-US" sz="4400" u="none" spc="752">
                    <a:solidFill>
                      <a:srgbClr val="2B4B82"/>
                    </a:solidFill>
                    <a:latin typeface="Clear Sans Bold"/>
                  </a:rPr>
                  <a:t>1</a:t>
                </a:r>
              </a:p>
            </p:txBody>
          </p:sp>
        </p:grpSp>
        <p:grpSp>
          <p:nvGrpSpPr>
            <p:cNvPr id="43" name="Group 10"/>
            <p:cNvGrpSpPr/>
            <p:nvPr/>
          </p:nvGrpSpPr>
          <p:grpSpPr>
            <a:xfrm>
              <a:off x="5544447" y="0"/>
              <a:ext cx="1196293" cy="1178699"/>
              <a:chOff x="0" y="0"/>
              <a:chExt cx="822623" cy="810524"/>
            </a:xfrm>
          </p:grpSpPr>
          <p:sp>
            <p:nvSpPr>
              <p:cNvPr id="1048632" name="Freeform 11"/>
              <p:cNvSpPr/>
              <p:nvPr/>
            </p:nvSpPr>
            <p:spPr>
              <a:xfrm>
                <a:off x="0" y="0"/>
                <a:ext cx="822623" cy="810524"/>
              </a:xfrm>
              <a:custGeom>
                <a:avLst/>
                <a:gdLst/>
                <a:ahLst/>
                <a:cxnLst/>
                <a:rect l="l" t="t" r="r" b="b"/>
                <a:pathLst>
                  <a:path w="822623" h="810524">
                    <a:moveTo>
                      <a:pt x="0" y="0"/>
                    </a:moveTo>
                    <a:lnTo>
                      <a:pt x="822623" y="0"/>
                    </a:lnTo>
                    <a:lnTo>
                      <a:pt x="822623" y="810524"/>
                    </a:lnTo>
                    <a:lnTo>
                      <a:pt x="0" y="810524"/>
                    </a:lnTo>
                    <a:close/>
                  </a:path>
                </a:pathLst>
              </a:custGeom>
              <a:solidFill>
                <a:srgbClr val="94DDDE"/>
              </a:solidFill>
            </p:spPr>
          </p:sp>
          <p:sp>
            <p:nvSpPr>
              <p:cNvPr id="1048633" name="TextBox 12"/>
              <p:cNvSpPr txBox="1"/>
              <p:nvPr/>
            </p:nvSpPr>
            <p:spPr>
              <a:xfrm>
                <a:off x="0" y="-76200"/>
                <a:ext cx="822623" cy="886724"/>
              </a:xfrm>
              <a:prstGeom prst="rect">
                <a:avLst/>
              </a:prstGeom>
            </p:spPr>
            <p:txBody>
              <a:bodyPr lIns="0" tIns="0" rIns="0" bIns="0" rtlCol="0" anchor="ctr"/>
              <a:lstStyle/>
              <a:p>
                <a:pPr marL="0" lvl="0" indent="0" algn="ctr">
                  <a:lnSpc>
                    <a:spcPts val="6160"/>
                  </a:lnSpc>
                  <a:spcBef>
                    <a:spcPct val="0"/>
                  </a:spcBef>
                </a:pPr>
                <a:r>
                  <a:rPr lang="en-US" sz="4400" spc="752">
                    <a:solidFill>
                      <a:srgbClr val="2B4B82"/>
                    </a:solidFill>
                    <a:latin typeface="Clear Sans Bold"/>
                  </a:rPr>
                  <a:t>2</a:t>
                </a:r>
              </a:p>
            </p:txBody>
          </p:sp>
        </p:grpSp>
        <p:sp>
          <p:nvSpPr>
            <p:cNvPr id="1048634" name="TextBox 13"/>
            <p:cNvSpPr txBox="1"/>
            <p:nvPr/>
          </p:nvSpPr>
          <p:spPr>
            <a:xfrm>
              <a:off x="4547689" y="1328994"/>
              <a:ext cx="3189810" cy="663617"/>
            </a:xfrm>
            <a:prstGeom prst="rect">
              <a:avLst/>
            </a:prstGeom>
          </p:spPr>
          <p:txBody>
            <a:bodyPr lIns="0" tIns="0" rIns="0" bIns="0" rtlCol="0" anchor="t">
              <a:spAutoFit/>
            </a:bodyPr>
            <a:lstStyle/>
            <a:p>
              <a:pPr marL="0" lvl="0" indent="0" algn="ctr">
                <a:lnSpc>
                  <a:spcPts val="3919"/>
                </a:lnSpc>
              </a:pPr>
              <a:r>
                <a:rPr lang="en-US" sz="2799" u="none" spc="279">
                  <a:solidFill>
                    <a:srgbClr val="2B4B82"/>
                  </a:solidFill>
                  <a:latin typeface="Clear Sans Bold"/>
                </a:rPr>
                <a:t>STEP </a:t>
              </a:r>
            </a:p>
          </p:txBody>
        </p:sp>
        <p:sp>
          <p:nvSpPr>
            <p:cNvPr id="1048635" name="TextBox 14"/>
            <p:cNvSpPr txBox="1"/>
            <p:nvPr/>
          </p:nvSpPr>
          <p:spPr>
            <a:xfrm>
              <a:off x="4547689" y="3751427"/>
              <a:ext cx="3189810" cy="469487"/>
            </a:xfrm>
            <a:prstGeom prst="rect">
              <a:avLst/>
            </a:prstGeom>
          </p:spPr>
          <p:txBody>
            <a:bodyPr lIns="0" tIns="0" rIns="0" bIns="0" rtlCol="0" anchor="t">
              <a:spAutoFit/>
            </a:bodyPr>
            <a:lstStyle/>
            <a:p>
              <a:pPr algn="ctr">
                <a:lnSpc>
                  <a:spcPts val="2940"/>
                </a:lnSpc>
              </a:pPr>
              <a:endParaRPr/>
            </a:p>
          </p:txBody>
        </p:sp>
        <p:sp>
          <p:nvSpPr>
            <p:cNvPr id="1048636" name="TextBox 15"/>
            <p:cNvSpPr txBox="1"/>
            <p:nvPr/>
          </p:nvSpPr>
          <p:spPr>
            <a:xfrm>
              <a:off x="4547689" y="2311413"/>
              <a:ext cx="3189811" cy="2325423"/>
            </a:xfrm>
            <a:prstGeom prst="rect">
              <a:avLst/>
            </a:prstGeom>
          </p:spPr>
          <p:txBody>
            <a:bodyPr lIns="0" tIns="0" rIns="0" bIns="0" rtlCol="0" anchor="t">
              <a:spAutoFit/>
            </a:bodyPr>
            <a:lstStyle/>
            <a:p>
              <a:pPr algn="ctr">
                <a:lnSpc>
                  <a:spcPts val="3360"/>
                </a:lnSpc>
              </a:pPr>
              <a:r>
                <a:rPr lang="en-US" sz="2400" dirty="0">
                  <a:solidFill>
                    <a:srgbClr val="2B4B82"/>
                  </a:solidFill>
                  <a:latin typeface="Clear Sans Medium"/>
                </a:rPr>
                <a:t>Connect motors with L298N driver and driver to </a:t>
              </a:r>
              <a:r>
                <a:rPr lang="en-US" sz="2400" dirty="0" err="1">
                  <a:solidFill>
                    <a:srgbClr val="2B4B82"/>
                  </a:solidFill>
                  <a:latin typeface="Clear Sans Medium"/>
                </a:rPr>
                <a:t>Arduino</a:t>
              </a:r>
              <a:endParaRPr lang="en-US" sz="2400" dirty="0">
                <a:solidFill>
                  <a:srgbClr val="2B4B82"/>
                </a:solidFill>
                <a:latin typeface="Clear Sans Medium"/>
              </a:endParaRPr>
            </a:p>
          </p:txBody>
        </p:sp>
        <p:sp>
          <p:nvSpPr>
            <p:cNvPr id="1048637" name="TextBox 16"/>
            <p:cNvSpPr txBox="1"/>
            <p:nvPr/>
          </p:nvSpPr>
          <p:spPr>
            <a:xfrm>
              <a:off x="0" y="1328994"/>
              <a:ext cx="3266497" cy="663617"/>
            </a:xfrm>
            <a:prstGeom prst="rect">
              <a:avLst/>
            </a:prstGeom>
          </p:spPr>
          <p:txBody>
            <a:bodyPr lIns="0" tIns="0" rIns="0" bIns="0" rtlCol="0" anchor="t">
              <a:spAutoFit/>
            </a:bodyPr>
            <a:lstStyle/>
            <a:p>
              <a:pPr algn="ctr">
                <a:lnSpc>
                  <a:spcPts val="3919"/>
                </a:lnSpc>
              </a:pPr>
              <a:r>
                <a:rPr lang="en-US" sz="2799" spc="279">
                  <a:solidFill>
                    <a:srgbClr val="2B4B82"/>
                  </a:solidFill>
                  <a:latin typeface="Clear Sans Bold"/>
                </a:rPr>
                <a:t>STEP </a:t>
              </a:r>
            </a:p>
          </p:txBody>
        </p:sp>
        <p:sp>
          <p:nvSpPr>
            <p:cNvPr id="1048638" name="TextBox 17"/>
            <p:cNvSpPr txBox="1"/>
            <p:nvPr/>
          </p:nvSpPr>
          <p:spPr>
            <a:xfrm>
              <a:off x="0" y="3759252"/>
              <a:ext cx="3266497" cy="469487"/>
            </a:xfrm>
            <a:prstGeom prst="rect">
              <a:avLst/>
            </a:prstGeom>
          </p:spPr>
          <p:txBody>
            <a:bodyPr lIns="0" tIns="0" rIns="0" bIns="0" rtlCol="0" anchor="t">
              <a:spAutoFit/>
            </a:bodyPr>
            <a:lstStyle/>
            <a:p>
              <a:pPr algn="ctr">
                <a:lnSpc>
                  <a:spcPts val="2940"/>
                </a:lnSpc>
              </a:pPr>
              <a:endParaRPr/>
            </a:p>
          </p:txBody>
        </p:sp>
        <p:sp>
          <p:nvSpPr>
            <p:cNvPr id="1048639" name="TextBox 18"/>
            <p:cNvSpPr txBox="1"/>
            <p:nvPr/>
          </p:nvSpPr>
          <p:spPr>
            <a:xfrm>
              <a:off x="0" y="2305825"/>
              <a:ext cx="3266497" cy="1706880"/>
            </a:xfrm>
            <a:prstGeom prst="rect">
              <a:avLst/>
            </a:prstGeom>
          </p:spPr>
          <p:txBody>
            <a:bodyPr lIns="0" tIns="0" rIns="0" bIns="0" rtlCol="0" anchor="t">
              <a:spAutoFit/>
            </a:bodyPr>
            <a:lstStyle/>
            <a:p>
              <a:pPr algn="ctr">
                <a:lnSpc>
                  <a:spcPts val="3360"/>
                </a:lnSpc>
              </a:pPr>
              <a:r>
                <a:rPr lang="en-US" sz="2400">
                  <a:solidFill>
                    <a:srgbClr val="2B4B82"/>
                  </a:solidFill>
                  <a:latin typeface="Clear Sans Medium"/>
                </a:rPr>
                <a:t>Gather Components and Tools</a:t>
              </a:r>
            </a:p>
          </p:txBody>
        </p:sp>
        <p:sp>
          <p:nvSpPr>
            <p:cNvPr id="1048640" name="TextBox 19"/>
            <p:cNvSpPr txBox="1"/>
            <p:nvPr/>
          </p:nvSpPr>
          <p:spPr>
            <a:xfrm>
              <a:off x="9018690" y="1336818"/>
              <a:ext cx="3266497" cy="663617"/>
            </a:xfrm>
            <a:prstGeom prst="rect">
              <a:avLst/>
            </a:prstGeom>
          </p:spPr>
          <p:txBody>
            <a:bodyPr lIns="0" tIns="0" rIns="0" bIns="0" rtlCol="0" anchor="t">
              <a:spAutoFit/>
            </a:bodyPr>
            <a:lstStyle/>
            <a:p>
              <a:pPr marL="0" lvl="0" indent="0" algn="ctr">
                <a:lnSpc>
                  <a:spcPts val="3919"/>
                </a:lnSpc>
              </a:pPr>
              <a:r>
                <a:rPr lang="en-US" sz="2799" u="none" spc="279">
                  <a:solidFill>
                    <a:srgbClr val="2B4B82"/>
                  </a:solidFill>
                  <a:latin typeface="Clear Sans Bold"/>
                </a:rPr>
                <a:t>STEP </a:t>
              </a:r>
            </a:p>
          </p:txBody>
        </p:sp>
        <p:sp>
          <p:nvSpPr>
            <p:cNvPr id="1048641" name="TextBox 20"/>
            <p:cNvSpPr txBox="1"/>
            <p:nvPr/>
          </p:nvSpPr>
          <p:spPr>
            <a:xfrm>
              <a:off x="9018690" y="3759252"/>
              <a:ext cx="3266497" cy="469487"/>
            </a:xfrm>
            <a:prstGeom prst="rect">
              <a:avLst/>
            </a:prstGeom>
          </p:spPr>
          <p:txBody>
            <a:bodyPr lIns="0" tIns="0" rIns="0" bIns="0" rtlCol="0" anchor="t">
              <a:spAutoFit/>
            </a:bodyPr>
            <a:lstStyle/>
            <a:p>
              <a:pPr algn="ctr">
                <a:lnSpc>
                  <a:spcPts val="2940"/>
                </a:lnSpc>
              </a:pPr>
              <a:endParaRPr/>
            </a:p>
          </p:txBody>
        </p:sp>
        <p:sp>
          <p:nvSpPr>
            <p:cNvPr id="1048642" name="TextBox 21"/>
            <p:cNvSpPr txBox="1"/>
            <p:nvPr/>
          </p:nvSpPr>
          <p:spPr>
            <a:xfrm>
              <a:off x="9018690" y="2319239"/>
              <a:ext cx="3266497" cy="2906779"/>
            </a:xfrm>
            <a:prstGeom prst="rect">
              <a:avLst/>
            </a:prstGeom>
          </p:spPr>
          <p:txBody>
            <a:bodyPr lIns="0" tIns="0" rIns="0" bIns="0" rtlCol="0" anchor="t">
              <a:spAutoFit/>
            </a:bodyPr>
            <a:lstStyle/>
            <a:p>
              <a:pPr algn="ctr">
                <a:lnSpc>
                  <a:spcPts val="3360"/>
                </a:lnSpc>
              </a:pPr>
              <a:r>
                <a:rPr lang="en-US" sz="2400" dirty="0">
                  <a:solidFill>
                    <a:srgbClr val="2B4B82"/>
                  </a:solidFill>
                  <a:latin typeface="Clear Sans Medium"/>
                </a:rPr>
                <a:t>Connect servo motor and setup ultrasonic sensor and connect them to </a:t>
              </a:r>
              <a:r>
                <a:rPr lang="en-US" sz="2400" dirty="0" err="1">
                  <a:solidFill>
                    <a:srgbClr val="2B4B82"/>
                  </a:solidFill>
                  <a:latin typeface="Clear Sans Medium"/>
                </a:rPr>
                <a:t>Arduino</a:t>
              </a:r>
              <a:endParaRPr lang="en-US" sz="2400" dirty="0">
                <a:solidFill>
                  <a:srgbClr val="2B4B82"/>
                </a:solidFill>
                <a:latin typeface="Clear Sans Medium"/>
              </a:endParaRPr>
            </a:p>
          </p:txBody>
        </p:sp>
        <p:sp>
          <p:nvSpPr>
            <p:cNvPr id="1048643" name="TextBox 22"/>
            <p:cNvSpPr txBox="1"/>
            <p:nvPr/>
          </p:nvSpPr>
          <p:spPr>
            <a:xfrm>
              <a:off x="13381123" y="1336818"/>
              <a:ext cx="3560321" cy="663617"/>
            </a:xfrm>
            <a:prstGeom prst="rect">
              <a:avLst/>
            </a:prstGeom>
          </p:spPr>
          <p:txBody>
            <a:bodyPr lIns="0" tIns="0" rIns="0" bIns="0" rtlCol="0" anchor="t">
              <a:spAutoFit/>
            </a:bodyPr>
            <a:lstStyle/>
            <a:p>
              <a:pPr marL="0" lvl="0" indent="0" algn="ctr">
                <a:lnSpc>
                  <a:spcPts val="3919"/>
                </a:lnSpc>
              </a:pPr>
              <a:r>
                <a:rPr lang="en-US" sz="2799" u="none" spc="279">
                  <a:solidFill>
                    <a:srgbClr val="2B4B82"/>
                  </a:solidFill>
                  <a:latin typeface="Clear Sans Bold"/>
                </a:rPr>
                <a:t>STEP </a:t>
              </a:r>
            </a:p>
          </p:txBody>
        </p:sp>
        <p:sp>
          <p:nvSpPr>
            <p:cNvPr id="1048644" name="TextBox 23"/>
            <p:cNvSpPr txBox="1"/>
            <p:nvPr/>
          </p:nvSpPr>
          <p:spPr>
            <a:xfrm>
              <a:off x="13381123" y="4322660"/>
              <a:ext cx="3560321" cy="469487"/>
            </a:xfrm>
            <a:prstGeom prst="rect">
              <a:avLst/>
            </a:prstGeom>
          </p:spPr>
          <p:txBody>
            <a:bodyPr lIns="0" tIns="0" rIns="0" bIns="0" rtlCol="0" anchor="t">
              <a:spAutoFit/>
            </a:bodyPr>
            <a:lstStyle/>
            <a:p>
              <a:pPr algn="ctr">
                <a:lnSpc>
                  <a:spcPts val="2940"/>
                </a:lnSpc>
              </a:pPr>
              <a:endParaRPr/>
            </a:p>
          </p:txBody>
        </p:sp>
        <p:sp>
          <p:nvSpPr>
            <p:cNvPr id="1048645" name="TextBox 24"/>
            <p:cNvSpPr txBox="1"/>
            <p:nvPr/>
          </p:nvSpPr>
          <p:spPr>
            <a:xfrm>
              <a:off x="13381123" y="2319239"/>
              <a:ext cx="3560321" cy="1137920"/>
            </a:xfrm>
            <a:prstGeom prst="rect">
              <a:avLst/>
            </a:prstGeom>
          </p:spPr>
          <p:txBody>
            <a:bodyPr lIns="0" tIns="0" rIns="0" bIns="0" rtlCol="0" anchor="t">
              <a:spAutoFit/>
            </a:bodyPr>
            <a:lstStyle/>
            <a:p>
              <a:pPr algn="ctr">
                <a:lnSpc>
                  <a:spcPts val="3360"/>
                </a:lnSpc>
              </a:pPr>
              <a:r>
                <a:rPr lang="en-US" sz="2400" dirty="0">
                  <a:solidFill>
                    <a:srgbClr val="2B4B82"/>
                  </a:solidFill>
                  <a:latin typeface="Clear Sans Medium"/>
                </a:rPr>
                <a:t>Program the </a:t>
              </a:r>
              <a:r>
                <a:rPr lang="en-US" sz="2400" dirty="0" err="1">
                  <a:solidFill>
                    <a:srgbClr val="2B4B82"/>
                  </a:solidFill>
                  <a:latin typeface="Clear Sans Medium"/>
                </a:rPr>
                <a:t>Arduino</a:t>
              </a:r>
              <a:endParaRPr lang="en-US" sz="2400" dirty="0">
                <a:solidFill>
                  <a:srgbClr val="2B4B82"/>
                </a:solidFill>
                <a:latin typeface="Clear Sans Medium"/>
              </a:endParaRPr>
            </a:p>
          </p:txBody>
        </p:sp>
        <p:sp>
          <p:nvSpPr>
            <p:cNvPr id="1048646" name="TextBox 25"/>
            <p:cNvSpPr txBox="1"/>
            <p:nvPr/>
          </p:nvSpPr>
          <p:spPr>
            <a:xfrm>
              <a:off x="17794215" y="1328994"/>
              <a:ext cx="3752827" cy="663617"/>
            </a:xfrm>
            <a:prstGeom prst="rect">
              <a:avLst/>
            </a:prstGeom>
          </p:spPr>
          <p:txBody>
            <a:bodyPr lIns="0" tIns="0" rIns="0" bIns="0" rtlCol="0" anchor="t">
              <a:spAutoFit/>
            </a:bodyPr>
            <a:lstStyle/>
            <a:p>
              <a:pPr marL="0" lvl="0" indent="0" algn="ctr">
                <a:lnSpc>
                  <a:spcPts val="3919"/>
                </a:lnSpc>
              </a:pPr>
              <a:r>
                <a:rPr lang="en-US" sz="2799" u="none" spc="279">
                  <a:solidFill>
                    <a:srgbClr val="2B4B82"/>
                  </a:solidFill>
                  <a:latin typeface="Clear Sans Bold"/>
                </a:rPr>
                <a:t>STEP </a:t>
              </a:r>
            </a:p>
          </p:txBody>
        </p:sp>
        <p:sp>
          <p:nvSpPr>
            <p:cNvPr id="1048647" name="TextBox 26"/>
            <p:cNvSpPr txBox="1"/>
            <p:nvPr/>
          </p:nvSpPr>
          <p:spPr>
            <a:xfrm>
              <a:off x="17794215" y="3188019"/>
              <a:ext cx="3752827" cy="469487"/>
            </a:xfrm>
            <a:prstGeom prst="rect">
              <a:avLst/>
            </a:prstGeom>
          </p:spPr>
          <p:txBody>
            <a:bodyPr lIns="0" tIns="0" rIns="0" bIns="0" rtlCol="0" anchor="t">
              <a:spAutoFit/>
            </a:bodyPr>
            <a:lstStyle/>
            <a:p>
              <a:pPr algn="ctr">
                <a:lnSpc>
                  <a:spcPts val="2940"/>
                </a:lnSpc>
              </a:pPr>
              <a:endParaRPr/>
            </a:p>
          </p:txBody>
        </p:sp>
        <p:sp>
          <p:nvSpPr>
            <p:cNvPr id="1048648" name="TextBox 27"/>
            <p:cNvSpPr txBox="1"/>
            <p:nvPr/>
          </p:nvSpPr>
          <p:spPr>
            <a:xfrm>
              <a:off x="17794215" y="2311414"/>
              <a:ext cx="3752827" cy="1137920"/>
            </a:xfrm>
            <a:prstGeom prst="rect">
              <a:avLst/>
            </a:prstGeom>
          </p:spPr>
          <p:txBody>
            <a:bodyPr lIns="0" tIns="0" rIns="0" bIns="0" rtlCol="0" anchor="t">
              <a:spAutoFit/>
            </a:bodyPr>
            <a:lstStyle/>
            <a:p>
              <a:pPr algn="ctr">
                <a:lnSpc>
                  <a:spcPts val="3360"/>
                </a:lnSpc>
              </a:pPr>
              <a:r>
                <a:rPr lang="en-US" sz="2400" dirty="0">
                  <a:solidFill>
                    <a:srgbClr val="2B4B82"/>
                  </a:solidFill>
                  <a:latin typeface="Clear Sans Medium"/>
                </a:rPr>
                <a:t>Install and Test the System</a:t>
              </a:r>
            </a:p>
          </p:txBody>
        </p:sp>
        <p:grpSp>
          <p:nvGrpSpPr>
            <p:cNvPr id="44" name="Group 28"/>
            <p:cNvGrpSpPr/>
            <p:nvPr/>
          </p:nvGrpSpPr>
          <p:grpSpPr>
            <a:xfrm>
              <a:off x="10053792" y="0"/>
              <a:ext cx="1196293" cy="1178699"/>
              <a:chOff x="0" y="0"/>
              <a:chExt cx="822623" cy="810524"/>
            </a:xfrm>
          </p:grpSpPr>
          <p:sp>
            <p:nvSpPr>
              <p:cNvPr id="1048649" name="Freeform 29"/>
              <p:cNvSpPr/>
              <p:nvPr/>
            </p:nvSpPr>
            <p:spPr>
              <a:xfrm>
                <a:off x="0" y="0"/>
                <a:ext cx="822623" cy="810524"/>
              </a:xfrm>
              <a:custGeom>
                <a:avLst/>
                <a:gdLst/>
                <a:ahLst/>
                <a:cxnLst/>
                <a:rect l="l" t="t" r="r" b="b"/>
                <a:pathLst>
                  <a:path w="822623" h="810524">
                    <a:moveTo>
                      <a:pt x="0" y="0"/>
                    </a:moveTo>
                    <a:lnTo>
                      <a:pt x="822623" y="0"/>
                    </a:lnTo>
                    <a:lnTo>
                      <a:pt x="822623" y="810524"/>
                    </a:lnTo>
                    <a:lnTo>
                      <a:pt x="0" y="810524"/>
                    </a:lnTo>
                    <a:close/>
                  </a:path>
                </a:pathLst>
              </a:custGeom>
              <a:solidFill>
                <a:srgbClr val="94DDDE"/>
              </a:solidFill>
            </p:spPr>
          </p:sp>
          <p:sp>
            <p:nvSpPr>
              <p:cNvPr id="1048650" name="TextBox 30"/>
              <p:cNvSpPr txBox="1"/>
              <p:nvPr/>
            </p:nvSpPr>
            <p:spPr>
              <a:xfrm>
                <a:off x="0" y="-76200"/>
                <a:ext cx="822623" cy="886724"/>
              </a:xfrm>
              <a:prstGeom prst="rect">
                <a:avLst/>
              </a:prstGeom>
            </p:spPr>
            <p:txBody>
              <a:bodyPr lIns="0" tIns="0" rIns="0" bIns="0" rtlCol="0" anchor="ctr"/>
              <a:lstStyle/>
              <a:p>
                <a:pPr marL="0" lvl="0" indent="0" algn="ctr">
                  <a:lnSpc>
                    <a:spcPts val="6160"/>
                  </a:lnSpc>
                  <a:spcBef>
                    <a:spcPct val="0"/>
                  </a:spcBef>
                </a:pPr>
                <a:r>
                  <a:rPr lang="en-US" sz="4400" spc="752">
                    <a:solidFill>
                      <a:srgbClr val="2B4B82"/>
                    </a:solidFill>
                    <a:latin typeface="Clear Sans Bold"/>
                  </a:rPr>
                  <a:t>3</a:t>
                </a:r>
              </a:p>
            </p:txBody>
          </p:sp>
        </p:grpSp>
        <p:grpSp>
          <p:nvGrpSpPr>
            <p:cNvPr id="45" name="Group 31"/>
            <p:cNvGrpSpPr/>
            <p:nvPr/>
          </p:nvGrpSpPr>
          <p:grpSpPr>
            <a:xfrm>
              <a:off x="14563137" y="0"/>
              <a:ext cx="1196293" cy="1178699"/>
              <a:chOff x="0" y="0"/>
              <a:chExt cx="822623" cy="810524"/>
            </a:xfrm>
          </p:grpSpPr>
          <p:sp>
            <p:nvSpPr>
              <p:cNvPr id="1048651" name="Freeform 32"/>
              <p:cNvSpPr/>
              <p:nvPr/>
            </p:nvSpPr>
            <p:spPr>
              <a:xfrm>
                <a:off x="0" y="0"/>
                <a:ext cx="822623" cy="810524"/>
              </a:xfrm>
              <a:custGeom>
                <a:avLst/>
                <a:gdLst/>
                <a:ahLst/>
                <a:cxnLst/>
                <a:rect l="l" t="t" r="r" b="b"/>
                <a:pathLst>
                  <a:path w="822623" h="810524">
                    <a:moveTo>
                      <a:pt x="0" y="0"/>
                    </a:moveTo>
                    <a:lnTo>
                      <a:pt x="822623" y="0"/>
                    </a:lnTo>
                    <a:lnTo>
                      <a:pt x="822623" y="810524"/>
                    </a:lnTo>
                    <a:lnTo>
                      <a:pt x="0" y="810524"/>
                    </a:lnTo>
                    <a:close/>
                  </a:path>
                </a:pathLst>
              </a:custGeom>
              <a:solidFill>
                <a:srgbClr val="94DDDE"/>
              </a:solidFill>
            </p:spPr>
          </p:sp>
          <p:sp>
            <p:nvSpPr>
              <p:cNvPr id="1048652" name="TextBox 33"/>
              <p:cNvSpPr txBox="1"/>
              <p:nvPr/>
            </p:nvSpPr>
            <p:spPr>
              <a:xfrm>
                <a:off x="0" y="-76200"/>
                <a:ext cx="822623" cy="886724"/>
              </a:xfrm>
              <a:prstGeom prst="rect">
                <a:avLst/>
              </a:prstGeom>
            </p:spPr>
            <p:txBody>
              <a:bodyPr lIns="0" tIns="0" rIns="0" bIns="0" rtlCol="0" anchor="ctr"/>
              <a:lstStyle/>
              <a:p>
                <a:pPr marL="0" lvl="0" indent="0" algn="ctr">
                  <a:lnSpc>
                    <a:spcPts val="6160"/>
                  </a:lnSpc>
                  <a:spcBef>
                    <a:spcPct val="0"/>
                  </a:spcBef>
                </a:pPr>
                <a:r>
                  <a:rPr lang="en-US" sz="4400" spc="752">
                    <a:solidFill>
                      <a:srgbClr val="2B4B82"/>
                    </a:solidFill>
                    <a:latin typeface="Clear Sans Bold"/>
                  </a:rPr>
                  <a:t>4</a:t>
                </a:r>
              </a:p>
            </p:txBody>
          </p:sp>
        </p:grpSp>
        <p:grpSp>
          <p:nvGrpSpPr>
            <p:cNvPr id="46" name="Group 34"/>
            <p:cNvGrpSpPr/>
            <p:nvPr/>
          </p:nvGrpSpPr>
          <p:grpSpPr>
            <a:xfrm>
              <a:off x="19072482" y="0"/>
              <a:ext cx="1196293" cy="1178699"/>
              <a:chOff x="0" y="0"/>
              <a:chExt cx="822623" cy="810524"/>
            </a:xfrm>
          </p:grpSpPr>
          <p:sp>
            <p:nvSpPr>
              <p:cNvPr id="1048653" name="Freeform 35"/>
              <p:cNvSpPr/>
              <p:nvPr/>
            </p:nvSpPr>
            <p:spPr>
              <a:xfrm>
                <a:off x="0" y="0"/>
                <a:ext cx="822623" cy="810524"/>
              </a:xfrm>
              <a:custGeom>
                <a:avLst/>
                <a:gdLst/>
                <a:ahLst/>
                <a:cxnLst/>
                <a:rect l="l" t="t" r="r" b="b"/>
                <a:pathLst>
                  <a:path w="822623" h="810524">
                    <a:moveTo>
                      <a:pt x="0" y="0"/>
                    </a:moveTo>
                    <a:lnTo>
                      <a:pt x="822623" y="0"/>
                    </a:lnTo>
                    <a:lnTo>
                      <a:pt x="822623" y="810524"/>
                    </a:lnTo>
                    <a:lnTo>
                      <a:pt x="0" y="810524"/>
                    </a:lnTo>
                    <a:close/>
                  </a:path>
                </a:pathLst>
              </a:custGeom>
              <a:solidFill>
                <a:srgbClr val="94DDDE"/>
              </a:solidFill>
            </p:spPr>
          </p:sp>
          <p:sp>
            <p:nvSpPr>
              <p:cNvPr id="1048654" name="TextBox 36"/>
              <p:cNvSpPr txBox="1"/>
              <p:nvPr/>
            </p:nvSpPr>
            <p:spPr>
              <a:xfrm>
                <a:off x="0" y="-76200"/>
                <a:ext cx="822623" cy="886724"/>
              </a:xfrm>
              <a:prstGeom prst="rect">
                <a:avLst/>
              </a:prstGeom>
            </p:spPr>
            <p:txBody>
              <a:bodyPr lIns="0" tIns="0" rIns="0" bIns="0" rtlCol="0" anchor="ctr"/>
              <a:lstStyle/>
              <a:p>
                <a:pPr marL="0" lvl="0" indent="0" algn="ctr">
                  <a:lnSpc>
                    <a:spcPts val="6160"/>
                  </a:lnSpc>
                  <a:spcBef>
                    <a:spcPct val="0"/>
                  </a:spcBef>
                </a:pPr>
                <a:r>
                  <a:rPr lang="en-US" sz="4400" spc="752">
                    <a:solidFill>
                      <a:srgbClr val="2B4B82"/>
                    </a:solidFill>
                    <a:latin typeface="Clear Sans Bold"/>
                  </a:rPr>
                  <a:t>5</a:t>
                </a:r>
              </a:p>
            </p:txBody>
          </p:sp>
        </p:grpSp>
      </p:grpSp>
      <p:sp>
        <p:nvSpPr>
          <p:cNvPr id="1048655" name="TextBox 37"/>
          <p:cNvSpPr txBox="1"/>
          <p:nvPr/>
        </p:nvSpPr>
        <p:spPr>
          <a:xfrm>
            <a:off x="1028700" y="1688694"/>
            <a:ext cx="16135350" cy="853313"/>
          </a:xfrm>
          <a:prstGeom prst="rect">
            <a:avLst/>
          </a:prstGeom>
        </p:spPr>
        <p:txBody>
          <a:bodyPr lIns="0" tIns="0" rIns="0" bIns="0" rtlCol="0" anchor="t">
            <a:spAutoFit/>
          </a:bodyPr>
          <a:lstStyle/>
          <a:p>
            <a:pPr algn="ctr">
              <a:lnSpc>
                <a:spcPts val="6719"/>
              </a:lnSpc>
            </a:pPr>
            <a:r>
              <a:rPr lang="en-US" sz="6399">
                <a:solidFill>
                  <a:srgbClr val="2B4B82"/>
                </a:solidFill>
                <a:latin typeface="Clear Sans Bold"/>
              </a:rPr>
              <a:t>Steps to assemble</a:t>
            </a: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Rectangle 1"/>
          <p:cNvSpPr/>
          <p:nvPr/>
        </p:nvSpPr>
        <p:spPr>
          <a:xfrm>
            <a:off x="4872912" y="495300"/>
            <a:ext cx="8458200" cy="1323439"/>
          </a:xfrm>
          <a:prstGeom prst="rect">
            <a:avLst/>
          </a:prstGeom>
          <a:noFill/>
        </p:spPr>
        <p:txBody>
          <a:bodyPr wrap="square" lIns="91440" tIns="45720" rIns="91440" bIns="45720">
            <a:spAutoFit/>
          </a:bodyPr>
          <a:lstStyle/>
          <a:p>
            <a:pPr algn="ctr"/>
            <a:r>
              <a:rPr lang="en-US" sz="8000" b="1" cap="none"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CIRCUIT DIAGRAM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4012" y="2028230"/>
            <a:ext cx="13716000" cy="7567083"/>
          </a:xfrm>
          <a:prstGeom prst="rect">
            <a:avLst/>
          </a:prstGeom>
        </p:spPr>
      </p:pic>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85000"/>
          </a:schemeClr>
        </a:solidFill>
        <a:effectLst/>
      </p:bgPr>
    </p:bg>
    <p:spTree>
      <p:nvGrpSpPr>
        <p:cNvPr id="1" name=""/>
        <p:cNvGrpSpPr/>
        <p:nvPr/>
      </p:nvGrpSpPr>
      <p:grpSpPr>
        <a:xfrm>
          <a:off x="0" y="0"/>
          <a:ext cx="0" cy="0"/>
          <a:chOff x="0" y="0"/>
          <a:chExt cx="0" cy="0"/>
        </a:xfrm>
      </p:grpSpPr>
      <p:sp>
        <p:nvSpPr>
          <p:cNvPr id="2" name="Rectangle 1"/>
          <p:cNvSpPr/>
          <p:nvPr/>
        </p:nvSpPr>
        <p:spPr>
          <a:xfrm>
            <a:off x="3523859" y="207136"/>
            <a:ext cx="10896599" cy="1107996"/>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66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WORKING</a:t>
            </a:r>
          </a:p>
        </p:txBody>
      </p:sp>
      <p:sp>
        <p:nvSpPr>
          <p:cNvPr id="3" name="TextBox 2"/>
          <p:cNvSpPr txBox="1"/>
          <p:nvPr/>
        </p:nvSpPr>
        <p:spPr>
          <a:xfrm>
            <a:off x="914400" y="1866900"/>
            <a:ext cx="16306800" cy="5909310"/>
          </a:xfrm>
          <a:prstGeom prst="rect">
            <a:avLst/>
          </a:prstGeom>
          <a:noFill/>
        </p:spPr>
        <p:txBody>
          <a:bodyPr wrap="square" rtlCol="0">
            <a:spAutoFit/>
          </a:bodyPr>
          <a:lstStyle/>
          <a:p>
            <a:pPr marL="571500" indent="-571500">
              <a:buFont typeface="Wingdings" pitchFamily="2" charset="2"/>
              <a:buChar char="q"/>
            </a:pPr>
            <a:r>
              <a:rPr lang="en-IN" sz="5400" dirty="0"/>
              <a:t>System scans environment using ultrasonic sensor.</a:t>
            </a:r>
          </a:p>
          <a:p>
            <a:pPr marL="571500" indent="-571500">
              <a:buFont typeface="Wingdings" pitchFamily="2" charset="2"/>
              <a:buChar char="q"/>
            </a:pPr>
            <a:r>
              <a:rPr lang="en-IN" sz="5400" dirty="0"/>
              <a:t>Detected obstacles trigger avoidance algorithm.</a:t>
            </a:r>
          </a:p>
          <a:p>
            <a:pPr marL="571500" indent="-571500">
              <a:buFont typeface="Wingdings" pitchFamily="2" charset="2"/>
              <a:buChar char="q"/>
            </a:pPr>
            <a:r>
              <a:rPr lang="en-IN" sz="5400" dirty="0"/>
              <a:t>Motor controller adjusts speed and direction.</a:t>
            </a:r>
          </a:p>
          <a:p>
            <a:pPr marL="571500" indent="-571500">
              <a:buFont typeface="Wingdings" pitchFamily="2" charset="2"/>
              <a:buChar char="q"/>
            </a:pPr>
            <a:r>
              <a:rPr lang="en-IN" sz="5400" dirty="0"/>
              <a:t>Servo motor steers vehicle around obstacles.</a:t>
            </a:r>
          </a:p>
          <a:p>
            <a:pPr marL="571500" indent="-571500">
              <a:buFont typeface="Wingdings" pitchFamily="2" charset="2"/>
              <a:buChar char="q"/>
            </a:pPr>
            <a:r>
              <a:rPr lang="en-IN" sz="5400" dirty="0"/>
              <a:t>Continuous monitoring ensures real-time response.</a:t>
            </a:r>
          </a:p>
          <a:p>
            <a:pPr marL="571500" indent="-571500">
              <a:buFont typeface="Wingdings" pitchFamily="2" charset="2"/>
              <a:buChar char="q"/>
            </a:pPr>
            <a:r>
              <a:rPr lang="en-IN" sz="5400" dirty="0"/>
              <a:t>Navigation path dynamically adjusts to surroundings.</a:t>
            </a:r>
          </a:p>
          <a:p>
            <a:pPr marL="571500" indent="-571500">
              <a:buFont typeface="Wingdings" pitchFamily="2" charset="2"/>
              <a:buChar char="q"/>
            </a:pPr>
            <a:r>
              <a:rPr lang="en-IN" sz="5400" dirty="0"/>
              <a:t>Autonomous operation ensures safe traversal.</a:t>
            </a:r>
          </a:p>
        </p:txBody>
      </p:sp>
    </p:spTree>
    <p:extLst>
      <p:ext uri="{BB962C8B-B14F-4D97-AF65-F5344CB8AC3E}">
        <p14:creationId xmlns:p14="http://schemas.microsoft.com/office/powerpoint/2010/main" val="3482242080"/>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4194306" name="Table 2"/>
          <p:cNvGraphicFramePr>
            <a:graphicFrameLocks noGrp="1"/>
          </p:cNvGraphicFramePr>
          <p:nvPr>
            <p:extLst>
              <p:ext uri="{D42A27DB-BD31-4B8C-83A1-F6EECF244321}">
                <p14:modId xmlns:p14="http://schemas.microsoft.com/office/powerpoint/2010/main" val="3974921769"/>
              </p:ext>
            </p:extLst>
          </p:nvPr>
        </p:nvGraphicFramePr>
        <p:xfrm>
          <a:off x="7979129" y="758247"/>
          <a:ext cx="9603197" cy="8770506"/>
        </p:xfrm>
        <a:graphic>
          <a:graphicData uri="http://schemas.openxmlformats.org/drawingml/2006/table">
            <a:tbl>
              <a:tblPr/>
              <a:tblGrid>
                <a:gridCol w="9603197">
                  <a:extLst>
                    <a:ext uri="{9D8B030D-6E8A-4147-A177-3AD203B41FA5}">
                      <a16:colId xmlns:a16="http://schemas.microsoft.com/office/drawing/2014/main" val="20000"/>
                    </a:ext>
                  </a:extLst>
                </a:gridCol>
              </a:tblGrid>
              <a:tr h="996008">
                <a:tc>
                  <a:txBody>
                    <a:bodyPr/>
                    <a:lstStyle/>
                    <a:p>
                      <a:pPr algn="l">
                        <a:lnSpc>
                          <a:spcPts val="3919"/>
                        </a:lnSpc>
                      </a:pPr>
                      <a:r>
                        <a:rPr lang="en-US" sz="2799" dirty="0">
                          <a:solidFill>
                            <a:srgbClr val="F7B4A7"/>
                          </a:solidFill>
                          <a:latin typeface="Clear Sans Bold"/>
                        </a:rPr>
                        <a:t>Safety Boost</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0"/>
                  </a:ext>
                </a:extLst>
              </a:tr>
              <a:tr h="2164403">
                <a:tc>
                  <a:txBody>
                    <a:bodyPr/>
                    <a:lstStyle/>
                    <a:p>
                      <a:pPr algn="l">
                        <a:lnSpc>
                          <a:spcPts val="3359"/>
                        </a:lnSpc>
                      </a:pPr>
                      <a:r>
                        <a:rPr lang="fr-FR" sz="2400" dirty="0" err="1">
                          <a:solidFill>
                            <a:srgbClr val="FEFEFE"/>
                          </a:solidFill>
                          <a:latin typeface="Clear Sans"/>
                        </a:rPr>
                        <a:t>Autonomous</a:t>
                      </a:r>
                      <a:r>
                        <a:rPr lang="fr-FR" sz="2400" dirty="0">
                          <a:solidFill>
                            <a:srgbClr val="FEFEFE"/>
                          </a:solidFill>
                          <a:latin typeface="Clear Sans"/>
                        </a:rPr>
                        <a:t> obstacle </a:t>
                      </a:r>
                      <a:r>
                        <a:rPr lang="fr-FR" sz="2400" dirty="0" err="1">
                          <a:solidFill>
                            <a:srgbClr val="FEFEFE"/>
                          </a:solidFill>
                          <a:latin typeface="Clear Sans"/>
                        </a:rPr>
                        <a:t>avoidance</a:t>
                      </a:r>
                      <a:r>
                        <a:rPr lang="fr-FR" sz="2400" dirty="0">
                          <a:solidFill>
                            <a:srgbClr val="FEFEFE"/>
                          </a:solidFill>
                          <a:latin typeface="Clear Sans"/>
                        </a:rPr>
                        <a:t> </a:t>
                      </a:r>
                      <a:r>
                        <a:rPr lang="fr-FR" sz="2400" dirty="0" err="1">
                          <a:solidFill>
                            <a:srgbClr val="FEFEFE"/>
                          </a:solidFill>
                          <a:latin typeface="Clear Sans"/>
                        </a:rPr>
                        <a:t>ensures</a:t>
                      </a:r>
                      <a:r>
                        <a:rPr lang="fr-FR" sz="2400" dirty="0">
                          <a:solidFill>
                            <a:srgbClr val="FEFEFE"/>
                          </a:solidFill>
                          <a:latin typeface="Clear Sans"/>
                        </a:rPr>
                        <a:t> </a:t>
                      </a:r>
                      <a:r>
                        <a:rPr lang="fr-FR" sz="2400" dirty="0" err="1">
                          <a:solidFill>
                            <a:srgbClr val="FEFEFE"/>
                          </a:solidFill>
                          <a:latin typeface="Clear Sans"/>
                        </a:rPr>
                        <a:t>secure</a:t>
                      </a:r>
                      <a:r>
                        <a:rPr lang="fr-FR" sz="2400" dirty="0">
                          <a:solidFill>
                            <a:srgbClr val="FEFEFE"/>
                          </a:solidFill>
                          <a:latin typeface="Clear Sans"/>
                        </a:rPr>
                        <a:t> </a:t>
                      </a:r>
                      <a:r>
                        <a:rPr lang="fr-FR" sz="2400" dirty="0" err="1">
                          <a:solidFill>
                            <a:srgbClr val="FEFEFE"/>
                          </a:solidFill>
                          <a:latin typeface="Clear Sans"/>
                        </a:rPr>
                        <a:t>traversal</a:t>
                      </a:r>
                      <a:r>
                        <a:rPr lang="fr-FR" sz="2400" dirty="0">
                          <a:solidFill>
                            <a:srgbClr val="FEFEFE"/>
                          </a:solidFill>
                          <a:latin typeface="Clear Sans"/>
                        </a:rPr>
                        <a:t>.</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extLst>
                  <a:ext uri="{0D108BD9-81ED-4DB2-BD59-A6C34878D82A}">
                    <a16:rowId xmlns:a16="http://schemas.microsoft.com/office/drawing/2014/main" val="10001"/>
                  </a:ext>
                </a:extLst>
              </a:tr>
              <a:tr h="1069024">
                <a:tc>
                  <a:txBody>
                    <a:bodyPr/>
                    <a:lstStyle/>
                    <a:p>
                      <a:pPr algn="l">
                        <a:lnSpc>
                          <a:spcPts val="3919"/>
                        </a:lnSpc>
                      </a:pPr>
                      <a:r>
                        <a:rPr lang="en-US" sz="2799" dirty="0">
                          <a:solidFill>
                            <a:srgbClr val="F7B4A7"/>
                          </a:solidFill>
                          <a:latin typeface="Clear Sans Bold"/>
                        </a:rPr>
                        <a:t>Efficiency Surge</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2"/>
                  </a:ext>
                </a:extLst>
              </a:tr>
              <a:tr h="1743015">
                <a:tc>
                  <a:txBody>
                    <a:bodyPr/>
                    <a:lstStyle/>
                    <a:p>
                      <a:pPr algn="l">
                        <a:lnSpc>
                          <a:spcPts val="3359"/>
                        </a:lnSpc>
                      </a:pPr>
                      <a:r>
                        <a:rPr lang="en-US" sz="2400" dirty="0">
                          <a:solidFill>
                            <a:srgbClr val="FEFEFE"/>
                          </a:solidFill>
                          <a:latin typeface="Clear Sans"/>
                        </a:rPr>
                        <a:t>Real-time navigation adjustments optimize movement.</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19050" cap="flat" cmpd="sng" algn="ctr">
                      <a:solidFill>
                        <a:srgbClr val="FEFEFE"/>
                      </a:solidFill>
                      <a:prstDash val="solid"/>
                      <a:round/>
                      <a:headEnd type="none" w="med" len="med"/>
                      <a:tailEnd type="none" w="med" len="med"/>
                    </a:lnB>
                  </a:tcPr>
                </a:tc>
                <a:extLst>
                  <a:ext uri="{0D108BD9-81ED-4DB2-BD59-A6C34878D82A}">
                    <a16:rowId xmlns:a16="http://schemas.microsoft.com/office/drawing/2014/main" val="10003"/>
                  </a:ext>
                </a:extLst>
              </a:tr>
              <a:tr h="1045464">
                <a:tc>
                  <a:txBody>
                    <a:bodyPr/>
                    <a:lstStyle/>
                    <a:p>
                      <a:pPr algn="l">
                        <a:lnSpc>
                          <a:spcPts val="3919"/>
                        </a:lnSpc>
                      </a:pPr>
                      <a:r>
                        <a:rPr lang="en-US" sz="2799" dirty="0">
                          <a:solidFill>
                            <a:srgbClr val="F7B4A7"/>
                          </a:solidFill>
                          <a:latin typeface="Clear Sans Bold"/>
                        </a:rPr>
                        <a:t>Versatile Adaptability</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19050" cap="flat" cmpd="sng" algn="ctr">
                      <a:solidFill>
                        <a:srgbClr val="FEFEFE"/>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4"/>
                  </a:ext>
                </a:extLst>
              </a:tr>
              <a:tr h="1752592">
                <a:tc>
                  <a:txBody>
                    <a:bodyPr/>
                    <a:lstStyle/>
                    <a:p>
                      <a:pPr algn="l">
                        <a:lnSpc>
                          <a:spcPts val="3359"/>
                        </a:lnSpc>
                      </a:pPr>
                      <a:r>
                        <a:rPr lang="en-US" sz="2400" dirty="0">
                          <a:solidFill>
                            <a:srgbClr val="FEFEFE"/>
                          </a:solidFill>
                          <a:latin typeface="Clear Sans"/>
                        </a:rPr>
                        <a:t>Seamlessly maneuvers through diverse environments.</a:t>
                      </a:r>
                      <a:endParaRPr lang="en-US" sz="1100" dirty="0"/>
                    </a:p>
                  </a:txBody>
                  <a:tcPr marL="190500" marR="190500" marT="190500" marB="190500" anchor="ctr">
                    <a:lnL w="47625" cap="flat" cmpd="sng" algn="ctr">
                      <a:solidFill>
                        <a:srgbClr val="2B4B82"/>
                      </a:solidFill>
                      <a:prstDash val="solid"/>
                      <a:round/>
                      <a:headEnd type="none" w="med" len="med"/>
                      <a:tailEnd type="none" w="med" len="med"/>
                    </a:lnL>
                    <a:lnR w="47625" cap="flat" cmpd="sng" algn="ctr">
                      <a:solidFill>
                        <a:srgbClr val="2B4B82"/>
                      </a:solidFill>
                      <a:prstDash val="solid"/>
                      <a:round/>
                      <a:headEnd type="none" w="med" len="med"/>
                      <a:tailEnd type="none" w="med" len="med"/>
                    </a:lnR>
                    <a:lnT w="47625" cap="flat" cmpd="sng" algn="ctr">
                      <a:solidFill>
                        <a:srgbClr val="2B4B82"/>
                      </a:solidFill>
                      <a:prstDash val="solid"/>
                      <a:round/>
                      <a:headEnd type="none" w="med" len="med"/>
                      <a:tailEnd type="none" w="med" len="med"/>
                    </a:lnT>
                    <a:lnB w="47625" cap="flat" cmpd="sng" algn="ctr">
                      <a:solidFill>
                        <a:srgbClr val="2B4B8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50" name="Group 3"/>
          <p:cNvGrpSpPr/>
          <p:nvPr/>
        </p:nvGrpSpPr>
        <p:grpSpPr>
          <a:xfrm>
            <a:off x="1296207" y="4640060"/>
            <a:ext cx="5772591" cy="1683002"/>
            <a:chOff x="0" y="85725"/>
            <a:chExt cx="7696787" cy="2244002"/>
          </a:xfrm>
        </p:grpSpPr>
        <p:sp>
          <p:nvSpPr>
            <p:cNvPr id="1048658" name="TextBox 4"/>
            <p:cNvSpPr txBox="1"/>
            <p:nvPr/>
          </p:nvSpPr>
          <p:spPr>
            <a:xfrm>
              <a:off x="0" y="85725"/>
              <a:ext cx="7696787" cy="1137752"/>
            </a:xfrm>
            <a:prstGeom prst="rect">
              <a:avLst/>
            </a:prstGeom>
          </p:spPr>
          <p:txBody>
            <a:bodyPr lIns="0" tIns="0" rIns="0" bIns="0" rtlCol="0" anchor="t">
              <a:spAutoFit/>
            </a:bodyPr>
            <a:lstStyle/>
            <a:p>
              <a:pPr>
                <a:lnSpc>
                  <a:spcPts val="6719"/>
                </a:lnSpc>
              </a:pPr>
              <a:r>
                <a:rPr lang="en-US" sz="6399">
                  <a:solidFill>
                    <a:srgbClr val="94DDDE"/>
                  </a:solidFill>
                  <a:latin typeface="Clear Sans Bold"/>
                </a:rPr>
                <a:t>   Advantages</a:t>
              </a:r>
            </a:p>
          </p:txBody>
        </p:sp>
        <p:sp>
          <p:nvSpPr>
            <p:cNvPr id="1048659" name="TextBox 5"/>
            <p:cNvSpPr txBox="1"/>
            <p:nvPr/>
          </p:nvSpPr>
          <p:spPr>
            <a:xfrm>
              <a:off x="0" y="1642235"/>
              <a:ext cx="5972555" cy="687492"/>
            </a:xfrm>
            <a:prstGeom prst="rect">
              <a:avLst/>
            </a:prstGeom>
          </p:spPr>
          <p:txBody>
            <a:bodyPr lIns="0" tIns="0" rIns="0" bIns="0" rtlCol="0" anchor="t">
              <a:spAutoFit/>
            </a:bodyPr>
            <a:lstStyle/>
            <a:p>
              <a:pPr>
                <a:lnSpc>
                  <a:spcPts val="4060"/>
                </a:lnSpc>
              </a:pPr>
              <a:endParaRPr/>
            </a:p>
          </p:txBody>
        </p:sp>
      </p:gr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B4A7"/>
        </a:solidFill>
        <a:effectLst/>
      </p:bgPr>
    </p:bg>
    <p:spTree>
      <p:nvGrpSpPr>
        <p:cNvPr id="1" name=""/>
        <p:cNvGrpSpPr/>
        <p:nvPr/>
      </p:nvGrpSpPr>
      <p:grpSpPr>
        <a:xfrm>
          <a:off x="0" y="0"/>
          <a:ext cx="0" cy="0"/>
          <a:chOff x="0" y="0"/>
          <a:chExt cx="0" cy="0"/>
        </a:xfrm>
      </p:grpSpPr>
      <p:sp>
        <p:nvSpPr>
          <p:cNvPr id="1048660" name="TextBox 2"/>
          <p:cNvSpPr txBox="1"/>
          <p:nvPr/>
        </p:nvSpPr>
        <p:spPr>
          <a:xfrm>
            <a:off x="946160" y="910315"/>
            <a:ext cx="9569415" cy="853313"/>
          </a:xfrm>
          <a:prstGeom prst="rect">
            <a:avLst/>
          </a:prstGeom>
        </p:spPr>
        <p:txBody>
          <a:bodyPr lIns="0" tIns="0" rIns="0" bIns="0" rtlCol="0" anchor="t">
            <a:spAutoFit/>
          </a:bodyPr>
          <a:lstStyle/>
          <a:p>
            <a:pPr>
              <a:lnSpc>
                <a:spcPts val="6719"/>
              </a:lnSpc>
            </a:pPr>
            <a:r>
              <a:rPr lang="en-US" sz="6399">
                <a:solidFill>
                  <a:srgbClr val="2B4B82"/>
                </a:solidFill>
                <a:latin typeface="Clear Sans Bold"/>
              </a:rPr>
              <a:t>APPLICATIONS</a:t>
            </a:r>
          </a:p>
        </p:txBody>
      </p:sp>
      <p:graphicFrame>
        <p:nvGraphicFramePr>
          <p:cNvPr id="4194307" name="Table 3"/>
          <p:cNvGraphicFramePr>
            <a:graphicFrameLocks noGrp="1"/>
          </p:cNvGraphicFramePr>
          <p:nvPr>
            <p:extLst>
              <p:ext uri="{D42A27DB-BD31-4B8C-83A1-F6EECF244321}">
                <p14:modId xmlns:p14="http://schemas.microsoft.com/office/powerpoint/2010/main" val="2928080028"/>
              </p:ext>
            </p:extLst>
          </p:nvPr>
        </p:nvGraphicFramePr>
        <p:xfrm>
          <a:off x="1028700" y="2331703"/>
          <a:ext cx="16313139" cy="5361593"/>
        </p:xfrm>
        <a:graphic>
          <a:graphicData uri="http://schemas.openxmlformats.org/drawingml/2006/table">
            <a:tbl>
              <a:tblPr/>
              <a:tblGrid>
                <a:gridCol w="5437713">
                  <a:extLst>
                    <a:ext uri="{9D8B030D-6E8A-4147-A177-3AD203B41FA5}">
                      <a16:colId xmlns:a16="http://schemas.microsoft.com/office/drawing/2014/main" val="20000"/>
                    </a:ext>
                  </a:extLst>
                </a:gridCol>
                <a:gridCol w="5437713">
                  <a:extLst>
                    <a:ext uri="{9D8B030D-6E8A-4147-A177-3AD203B41FA5}">
                      <a16:colId xmlns:a16="http://schemas.microsoft.com/office/drawing/2014/main" val="20001"/>
                    </a:ext>
                  </a:extLst>
                </a:gridCol>
                <a:gridCol w="5437713">
                  <a:extLst>
                    <a:ext uri="{9D8B030D-6E8A-4147-A177-3AD203B41FA5}">
                      <a16:colId xmlns:a16="http://schemas.microsoft.com/office/drawing/2014/main" val="20002"/>
                    </a:ext>
                  </a:extLst>
                </a:gridCol>
              </a:tblGrid>
              <a:tr h="999478">
                <a:tc>
                  <a:txBody>
                    <a:bodyPr/>
                    <a:lstStyle/>
                    <a:p>
                      <a:pPr algn="l">
                        <a:lnSpc>
                          <a:spcPts val="3919"/>
                        </a:lnSpc>
                      </a:pPr>
                      <a:r>
                        <a:rPr lang="en-US" sz="2799" dirty="0">
                          <a:solidFill>
                            <a:srgbClr val="2B4B82"/>
                          </a:solidFill>
                          <a:latin typeface="Clear Sans Bold"/>
                        </a:rPr>
                        <a:t>Space Rovers</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919"/>
                        </a:lnSpc>
                      </a:pPr>
                      <a:r>
                        <a:rPr lang="en-US" sz="2799" dirty="0">
                          <a:solidFill>
                            <a:srgbClr val="2B4B82"/>
                          </a:solidFill>
                          <a:latin typeface="Clear Sans Bold"/>
                        </a:rPr>
                        <a:t> Warehouse Robotics</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919"/>
                        </a:lnSpc>
                      </a:pPr>
                      <a:r>
                        <a:rPr lang="en-US" sz="2799" dirty="0">
                          <a:solidFill>
                            <a:srgbClr val="2B4B82"/>
                          </a:solidFill>
                          <a:latin typeface="Clear Sans Bold"/>
                        </a:rPr>
                        <a:t>Agricultural Automation</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extLst>
                  <a:ext uri="{0D108BD9-81ED-4DB2-BD59-A6C34878D82A}">
                    <a16:rowId xmlns:a16="http://schemas.microsoft.com/office/drawing/2014/main" val="10000"/>
                  </a:ext>
                </a:extLst>
              </a:tr>
              <a:tr h="2181553">
                <a:tc>
                  <a:txBody>
                    <a:bodyPr/>
                    <a:lstStyle/>
                    <a:p>
                      <a:pPr algn="l">
                        <a:lnSpc>
                          <a:spcPts val="3359"/>
                        </a:lnSpc>
                      </a:pPr>
                      <a:r>
                        <a:rPr lang="en-US" sz="2400" dirty="0">
                          <a:solidFill>
                            <a:srgbClr val="2B4B82"/>
                          </a:solidFill>
                          <a:latin typeface="Clear Sans"/>
                        </a:rPr>
                        <a:t>Navigates extraterrestrial terrain autonomously, aiding in planetary exploration and research.</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r>
                        <a:rPr lang="en-US" sz="2400" dirty="0">
                          <a:solidFill>
                            <a:srgbClr val="2B4B82"/>
                          </a:solidFill>
                          <a:latin typeface="Clear Sans"/>
                        </a:rPr>
                        <a:t>Facilitates efficient material handling and inventory management in large-scale warehouses, enhancing productivity.</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r>
                        <a:rPr lang="en-US" sz="2400" dirty="0">
                          <a:solidFill>
                            <a:srgbClr val="2B4B82"/>
                          </a:solidFill>
                          <a:latin typeface="Clear Sans"/>
                        </a:rPr>
                        <a:t>Assists in precision farming tasks such as planting, spraying, and harvesting, optimizing crop yield and resource usage.</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extLst>
                  <a:ext uri="{0D108BD9-81ED-4DB2-BD59-A6C34878D82A}">
                    <a16:rowId xmlns:a16="http://schemas.microsoft.com/office/drawing/2014/main" val="10001"/>
                  </a:ext>
                </a:extLst>
              </a:tr>
              <a:tr h="2180562">
                <a:tc>
                  <a:txBody>
                    <a:bodyPr/>
                    <a:lstStyle/>
                    <a:p>
                      <a:pPr algn="l">
                        <a:lnSpc>
                          <a:spcPts val="3359"/>
                        </a:lnSpc>
                      </a:pPr>
                      <a:endParaRPr lang="en-US" sz="110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endParaRPr lang="en-US" sz="110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endParaRPr lang="en-US" sz="110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4194308" name="Table 4"/>
          <p:cNvGraphicFramePr>
            <a:graphicFrameLocks noGrp="1"/>
          </p:cNvGraphicFramePr>
          <p:nvPr>
            <p:extLst>
              <p:ext uri="{D42A27DB-BD31-4B8C-83A1-F6EECF244321}">
                <p14:modId xmlns:p14="http://schemas.microsoft.com/office/powerpoint/2010/main" val="1939018171"/>
              </p:ext>
            </p:extLst>
          </p:nvPr>
        </p:nvGraphicFramePr>
        <p:xfrm>
          <a:off x="946160" y="5605141"/>
          <a:ext cx="16313139" cy="4179257"/>
        </p:xfrm>
        <a:graphic>
          <a:graphicData uri="http://schemas.openxmlformats.org/drawingml/2006/table">
            <a:tbl>
              <a:tblPr/>
              <a:tblGrid>
                <a:gridCol w="5437713">
                  <a:extLst>
                    <a:ext uri="{9D8B030D-6E8A-4147-A177-3AD203B41FA5}">
                      <a16:colId xmlns:a16="http://schemas.microsoft.com/office/drawing/2014/main" val="20000"/>
                    </a:ext>
                  </a:extLst>
                </a:gridCol>
                <a:gridCol w="5437713">
                  <a:extLst>
                    <a:ext uri="{9D8B030D-6E8A-4147-A177-3AD203B41FA5}">
                      <a16:colId xmlns:a16="http://schemas.microsoft.com/office/drawing/2014/main" val="20001"/>
                    </a:ext>
                  </a:extLst>
                </a:gridCol>
                <a:gridCol w="5437713">
                  <a:extLst>
                    <a:ext uri="{9D8B030D-6E8A-4147-A177-3AD203B41FA5}">
                      <a16:colId xmlns:a16="http://schemas.microsoft.com/office/drawing/2014/main" val="20002"/>
                    </a:ext>
                  </a:extLst>
                </a:gridCol>
              </a:tblGrid>
              <a:tr h="1568228">
                <a:tc>
                  <a:txBody>
                    <a:bodyPr/>
                    <a:lstStyle/>
                    <a:p>
                      <a:pPr algn="l">
                        <a:lnSpc>
                          <a:spcPts val="3919"/>
                        </a:lnSpc>
                      </a:pPr>
                      <a:r>
                        <a:rPr lang="en-US" sz="2799" dirty="0">
                          <a:solidFill>
                            <a:srgbClr val="2B4B82"/>
                          </a:solidFill>
                          <a:latin typeface="Clear Sans Bold"/>
                        </a:rPr>
                        <a:t>Search and Rescue</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919"/>
                        </a:lnSpc>
                      </a:pPr>
                      <a:r>
                        <a:rPr lang="en-US" sz="2799" dirty="0">
                          <a:solidFill>
                            <a:srgbClr val="2B4B82"/>
                          </a:solidFill>
                          <a:latin typeface="Clear Sans Bold"/>
                        </a:rPr>
                        <a:t>Environmental Monitoring</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919"/>
                        </a:lnSpc>
                      </a:pPr>
                      <a:r>
                        <a:rPr lang="en-US" sz="2799" dirty="0">
                          <a:solidFill>
                            <a:srgbClr val="2B4B82"/>
                          </a:solidFill>
                          <a:latin typeface="Clear Sans Bold"/>
                        </a:rPr>
                        <a:t>Infrastructure Inspection</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extLst>
                  <a:ext uri="{0D108BD9-81ED-4DB2-BD59-A6C34878D82A}">
                    <a16:rowId xmlns:a16="http://schemas.microsoft.com/office/drawing/2014/main" val="10000"/>
                  </a:ext>
                </a:extLst>
              </a:tr>
              <a:tr h="2611029">
                <a:tc>
                  <a:txBody>
                    <a:bodyPr/>
                    <a:lstStyle/>
                    <a:p>
                      <a:pPr algn="l">
                        <a:lnSpc>
                          <a:spcPts val="3359"/>
                        </a:lnSpc>
                      </a:pPr>
                      <a:r>
                        <a:rPr lang="en-US" sz="2400" dirty="0">
                          <a:solidFill>
                            <a:srgbClr val="2B4B82"/>
                          </a:solidFill>
                          <a:latin typeface="Clear Sans"/>
                        </a:rPr>
                        <a:t>Maneuvers through hazardous or inaccessible areas to locate and assist individuals during emergencies.</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r>
                        <a:rPr lang="en-US" sz="2400" dirty="0">
                          <a:solidFill>
                            <a:srgbClr val="2B4B82"/>
                          </a:solidFill>
                          <a:latin typeface="Clear Sans"/>
                        </a:rPr>
                        <a:t>Collects data in remote or hazardous environments to monitor pollution levels, wildlife habitats, and natural phenomena.</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tc>
                  <a:txBody>
                    <a:bodyPr/>
                    <a:lstStyle/>
                    <a:p>
                      <a:pPr algn="l">
                        <a:lnSpc>
                          <a:spcPts val="3359"/>
                        </a:lnSpc>
                      </a:pPr>
                      <a:r>
                        <a:rPr lang="en-US" sz="2400" dirty="0">
                          <a:solidFill>
                            <a:srgbClr val="2B4B82"/>
                          </a:solidFill>
                          <a:latin typeface="Clear Sans"/>
                        </a:rPr>
                        <a:t>Conducts thorough inspections of bridges, pipelines, and other structures to detect defects or damage, ensuring public safety.</a:t>
                      </a:r>
                      <a:endParaRPr lang="en-US" sz="1100" dirty="0"/>
                    </a:p>
                  </a:txBody>
                  <a:tcPr marL="190500" marR="190500" marT="190500" marB="190500" anchor="b">
                    <a:lnL w="47625" cap="flat" cmpd="sng" algn="ctr">
                      <a:solidFill>
                        <a:srgbClr val="F7B4A7"/>
                      </a:solidFill>
                      <a:prstDash val="solid"/>
                      <a:round/>
                      <a:headEnd type="none" w="med" len="med"/>
                      <a:tailEnd type="none" w="med" len="med"/>
                    </a:lnL>
                    <a:lnR w="47625" cap="flat" cmpd="sng" algn="ctr">
                      <a:solidFill>
                        <a:srgbClr val="F7B4A7"/>
                      </a:solidFill>
                      <a:prstDash val="solid"/>
                      <a:round/>
                      <a:headEnd type="none" w="med" len="med"/>
                      <a:tailEnd type="none" w="med" len="med"/>
                    </a:lnR>
                    <a:lnT w="47625" cap="flat" cmpd="sng" algn="ctr">
                      <a:solidFill>
                        <a:srgbClr val="F7B4A7"/>
                      </a:solidFill>
                      <a:prstDash val="solid"/>
                      <a:round/>
                      <a:headEnd type="none" w="med" len="med"/>
                      <a:tailEnd type="none" w="med" len="med"/>
                    </a:lnT>
                    <a:lnB w="47625" cap="flat" cmpd="sng" algn="ctr">
                      <a:solidFill>
                        <a:srgbClr val="F7B4A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ABC1"/>
        </a:solidFill>
        <a:effectLst/>
      </p:bgPr>
    </p:bg>
    <p:spTree>
      <p:nvGrpSpPr>
        <p:cNvPr id="1" name=""/>
        <p:cNvGrpSpPr/>
        <p:nvPr/>
      </p:nvGrpSpPr>
      <p:grpSpPr>
        <a:xfrm>
          <a:off x="0" y="0"/>
          <a:ext cx="0" cy="0"/>
          <a:chOff x="0" y="0"/>
          <a:chExt cx="0" cy="0"/>
        </a:xfrm>
      </p:grpSpPr>
      <p:sp>
        <p:nvSpPr>
          <p:cNvPr id="1048661" name="Freeform 2"/>
          <p:cNvSpPr/>
          <p:nvPr/>
        </p:nvSpPr>
        <p:spPr>
          <a:xfrm>
            <a:off x="4110131" y="4038891"/>
            <a:ext cx="10067738" cy="2837272"/>
          </a:xfrm>
          <a:custGeom>
            <a:avLst/>
            <a:gdLst/>
            <a:ahLst/>
            <a:cxnLst/>
            <a:rect l="l" t="t" r="r" b="b"/>
            <a:pathLst>
              <a:path w="10067738" h="2837272">
                <a:moveTo>
                  <a:pt x="0" y="0"/>
                </a:moveTo>
                <a:lnTo>
                  <a:pt x="10067738" y="0"/>
                </a:lnTo>
                <a:lnTo>
                  <a:pt x="10067738" y="2837271"/>
                </a:lnTo>
                <a:lnTo>
                  <a:pt x="0" y="2837271"/>
                </a:lnTo>
                <a:lnTo>
                  <a:pt x="0" y="0"/>
                </a:lnTo>
                <a:close/>
              </a:path>
            </a:pathLst>
          </a:custGeom>
          <a:blipFill>
            <a:blip r:embed="rId2"/>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607</Words>
  <Application>Microsoft Office PowerPoint</Application>
  <PresentationFormat>Custom</PresentationFormat>
  <Paragraphs>67</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Clear Sans Bold</vt:lpstr>
      <vt:lpstr>Wingdings</vt:lpstr>
      <vt:lpstr>Clear Sans</vt:lpstr>
      <vt:lpstr>Clear Sans Medium</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Technology is Changing Education</dc:title>
  <dc:creator>23049PCD8I</dc:creator>
  <cp:lastModifiedBy>Akshai krishna</cp:lastModifiedBy>
  <cp:revision>12</cp:revision>
  <dcterms:created xsi:type="dcterms:W3CDTF">2006-08-15T13:00:00Z</dcterms:created>
  <dcterms:modified xsi:type="dcterms:W3CDTF">2026-01-18T12:55:22Z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3bb4d4d0b5814286b83a35cf041d7431</vt:lpwstr>
  </property>
</Properties>
</file>